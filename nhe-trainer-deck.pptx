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room set before they arrive: packet open on the device, H.O.M.E. and E.D.O. cards at the seat, phone away. Greet by name, handshake, eye contact. Let this slide sit while they settle. Open with: "The way this room was set up before you walked in — clean, organized, intentional — that is the Apex Standard. Every shift should look like what you walked into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30 seconds to read it. Then: "Before we start, what stands out to you about today?" Connect their answer to what the day delivers. Point out that the chips in the packet (Live, Self, Shadow) match these three cards. Ask them to enter their name and site on the packet's Start page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"If this were just a job, standards would be flexible. If this were just a job, showing up late wouldn't matter. If this were just a job, presence wouldn't matter." Pause. "But this is a profession." Then read the three lines. Tell them to carry these three lines through their whole career with Apex.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line anchor identity. Pause. Then preview H.O.M.E. only briefly; they go deep on it in Module 1. Ask: "Which of these four do you naturally lead with?" Take one or two answers. Then: "Whatever value you lead with, excellence is what ties them together. These aren't wall words. These are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gates in order. Make the point that checkpoints have to be passed before moving on: they can change an answer, but they can't skip. Gate 2 means signing the paper acknowledgment form; you collect it at the start of the coach block. Gate 3's practice entries are what you'll review together first thing in the coach block, so they should take them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step away: confirm the packet loads, their name and site are entered, and they have the paper acknowledgment form. Tell them who to call if something breaks (Lead on site or you). Phones stay away during self-guided work except on breaks. Next: show the Module 1 check-in slide and talk through its three points (5 min), then step away. Come back at the start of each module for its check-in slide pair. Check their progress bar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 (5 min, at the start of Module 1). Talk through the three points, then let them work. 1. Temperature: "Residents feel your energy in 10 seconds. Tired, distracted, phone in hand: they notice. Handle personal matters before the shift." 2. Uniform: "If one agent looks sharp and another looks relaxed, the standard drops. We don't lower standards to fill shifts. We raise people to meet them." 3. Friendly vs familiar: preview the next slide's question. "You'll read the full line in the packet. Come back to me with one example of something that feels friendly but is really familiar." Mid-module (optional): ask which H.O.M.E. value they lead with, and which is hardest to hold at the end of a hard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aloud. Stop. Let it sit for five full seconds before saying anything. Then: "That question is the entire standard in one sentence. You don't need a policy manual for every situation. Ask it before you act, before you speak, before you make an exception for someone because you like them." If they gave you an example: receive it, then name the line. Nickname a resident gave you: "It only works with that resident. The next agent doesn't have that context." Chatting with a favorite while others walk past: "That resident feels special. Every other resident feels invisible." Close: "The standard isn't a ceiling. It's a floor. Everyone who walks past that desk gets the floor, at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 (5 min, at the start of Module 2). 1. Call-out: have them recite it back to you: call AND text your supervisor and the on-call manager, at least 2 hours ahead, reason and expected return. "If you skip the procedure, the absence is unexcused, whatever the reason." Three unexcused absences in 90 days triggers review. No call, no show = treated as resignation. 2. Swap: "This is the step that gets skipped most. Two agents agree, nobody tells management, one doesn't show. Now the site is uncovered and two agents have a problem." 3. Authorization: "A leasing agent you don't recognize says the PM approved unit access. What do you do?" Answer: verify independently with your supervisor or PM, then log who asked, who you verified with, and the time. Remind them the paper acknowledgment form gets signed before the coach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you come back mid-module or as they finish. Tone: calm, direct. Devices: "Personal devices are secondary to the role. If you're on your phone when someone approaches the desk, the standard drops immediately." Boundaries: "We are friendly. We are not familiar. No personal relationships with residents, no financial arrangements. Boundaries protect you. This is someone's home." Confidentiality: "What you hear at that desk stays in the building. Not friends, not social media, not another resident. Trust is built on discretion. Once it breaks, it doesn't come back." Harassment: "If you experience or see something, report it. Silence protects the wrong behavior." Keep it to 5–7 minutes. Anything specific: "The full policy is in the handbook. Bring it to your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 (5 min, at the start of Module 3). This is the most important hour of the day. Say so. 1. The post: "If relief hasn't arrived, you stay. The desk is not furniture. It's a signal of safety. When it's empty, the signal disappears." Abandoning a post without coverage is a terminable offense. 2. 1·2·3: have them say it back. "'Quiet night' and 'nothing to report' are never acceptable. If nothing happened, log what you checked." 3. Outcome: "Write the practice entries before you open the models. I'll read all three with you in the coach block, starting with the weakest Outcome." Ask: "If your supervisor read your log from last week and knew nothing else about you, what conclusion would they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once. Let it sit. Then: "That's not a philosophy. A resident disputes a package. A supervisor investigates an incident. HR reviews a termination. The first thing anyone looks at is the log. If your entry isn't there, your version of events doesn't exist." Ask: "Has anyone ever been somewhere something happened and there was no record of it? What did that cost someone?" Take one answer. Move on. Point to the strong vs. weak examples in the packet: "9 PM — checked building, everything fine" has zero use to anyone who wasn't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 (5 min, right after the meal break). Energy dips here; keep it brisk and ask questions instead of lecturing. 1. Perishables: "DoorDash for 1210, no answer. What do you do?" (Log, refrigerate, CALL not text, 24 hours.) "Instacart?" (Daily outreach, escalate to Lead before disposal at 48.) 2. Language: use the elevator example. "The resident reported that an elevator door closed on her leg" is a fact you can stand on. "The elevator closed on her leg" is a conclusion you didn't witness. Never give medication, diagnose, or judge severity. 3. Call first: "You call, you clear, you document. That's the job." Critical incidents (safety, legal, police): phone the Regional Manager immediately, then file in Connecteam before end of shift. Tell them the emergency drill in the coach block is from memory, no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does logging come before storage, not after?" The answer is chain of custody. "If a package disappears between intake and the shelf and there's no entry, there's no record it was ever received." Then release: "Verify identity before you retrieve the package, every time, however well you know them. If anything doesn't match, hold it and call your Lead. Never release under pressure." High-value (laptops, electronics, luxury goods) never goes on the general shelf. No postage, no outgoing acceptance. ANS hires: paper log with unit, initials and carrier, and missing packages go to Connecteam, not the shift log. Their site page in the packet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collect the signed conduct acknowledgment. It goes in the new hire file today. Check their progress bar: gates 1–4 should be done. If a checkpoint is still open, close it now before starting. Set the tone: "Every scenario today should end with: and I logged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open Module 3 and read entry B (the hallway flood) out loud. Score the Outcome against these four. Most new hires stop at "maintenance was notified." Ask: "Told whom? When? Is it resolved or pending? Who owns the next step?" Coach the weakest of their three entries until it hits all four. Then show the model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part of the Outcome: action (contacted maintenance), named notification (maintenance by name, supervisor, both by phone with times), status (pending), next step (pass-on). Note the voice: "Concierge confirmed," never "I went up." Ask: "If this water reached Unit 512's ceiling tomorrow, would this entry protect you?" That is the witness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it in under 10 minutes. Then tell them: "For every scenario, I want to hear where you Acknowledged, how you took Control, and whether you Transferred or Resolved. And every answer ends with: and I logged it." Use A.C.T. as the debrief lens for each scenario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APPROACH: Validate the frustration, not the accusation: "I understand this is frustrating, let me pull up what we have." Show them the log entry. If they insist: take contact info, "I'll follow up with my supervisor and reach you by [time]." Log every element in E.D.O. DEBRIEF: "What would happen if the intake had never been logged?" That's why every package is logged before it moves. ANS hires: missing-package details go in Connecteam, not the shift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APPROACH: (1) Resident at the desk: "One moment, please." (2) Phone: take name and callback number, don't try to resolve on the line. (3) Radio: "Copy, will respond shortly." (4) Door: hand signal to the driver. Return to the resident with full attention. Never visible stress, never visible frustration. DEBRIEF: There's no single right order, but the reasoning matters. Have them say the four lines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APPROACH: "Good evening, I want to make sure I can help you. Are you waiting for a resident? Can I let them know you're here?" If they can't or won't say: "For the security of our residents, I do need to verify an active visit. I can reach out to the resident for you." If they refuse or it feels uncertain: notify your supervisor immediately. Never try to physically remove anyone. Document from the first moment you noticed them. DEBRIEF: "At what point was escalation triggered, and how did you log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APPROACH: Document the state you inherited: the time, what was present, what was missing. Don't assume the 7th-floor issue was resolved; go look. Notify your supervisor immediately about the incomplete pass-on. DEBRIEF: "Now you know why the pass-on matters. The strong pass-on agent did their job for a shift that hadn't started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APPROACH: This is a life-safety matter. Give full attention; don't minimize it. Ask clarifying questions: when were they last seen, any known health concerns. First call: your supervisor, immediately. Not the unit, not property management first. Do not go into the unit yourself. DEBRIEF: "What would it cost if you'd said 'I'm sure they're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APPROACH: "That's not something I can do without confirming our policy. Let me check with my supervisor." Never fill a policy gap with personal judgment. Escalate. Document the request and the escalation. DEBRIEF: Tie it back to Module 2: "They said it was approved" is not authorization, and neither is "it's just a small favor."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APPROACH: Don't promise enforcement. Communicate the process: "I'm going to document this and contact the on-call supervisor. I'll follow up with you within 15 minutes." Log the call, unit, time and nature. Escalate. Never knock on a resident's door alone for a noise complaint. DEBRIEF: "Did anyone promise something they couldn't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each one out: "Fire. First three steps." They answer from memory. If they hesitate, run it again until it's clean. Then: "Medical emergency, unresponsive resident, 2 AM, you're alone. First three steps." Then: "Agitated non-resident moving toward the desk, you feel unsafe. First three steps." Answers: Fire = call 911 (don't investigate) and supervisor, pull the alarm, direct to exits, no elevators. Medical = call 911 with address/floor/unit, don't move them, stay with them. Security = don't confront, keep distance, call 911 if credible, notify supervisor. Then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sign-off item 7 (emergency drill) only when they got all three without notes. Emphasize security step 5: agents sometimes think they can't leave the desk. They can and should remove themselves from physical danger. Critical incidents (safety, legal, police): phone the Regional Manager immediately, then file in Connecteam before end of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complete the 8-task match in the packet on their own first, then show this slide and walk any ✕ items. Any confusion between Connecteam and the property system gets a live walkthrough on the shadow. Confirm their Connecteam and Paylocity logins work before the site shadow.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them to the Lead in person if you can. On an overnight or evening start, use whichever Lead or Senior Agent is on site that shift. Remind the Lead: initial each walk item, watch them process packages (log before moving, verify on release), and review their live tour entry against the four Outcome must-haves. The site quick page in the packet has the site rules. For ANS, the desk quick guide stays at the desk; don't let them photograph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their result. Read the written-entry checks with them; any ✕ is a coaching point now. Below 16: they re-take after reviewing with you or the Lead; don't sign item 9 yet. Then walk the trainer sign-off checklist in the packet item by item, and fill the contact card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Days 1–3 shadow shifts are on the schedule and they know who they're shadowing. Make the first-week check-in date concrete before they leave. "Your first 90 days set the pattern. What you establish here is what you're known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real: Cohort I produced promotions. That path starts with the next 90 days. "You don't need a title to lead. How you operate when no one is watching is the true Apex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type it into the packet's Sign-off page. Eight minutes, no talking. Then ask them to read the first line out loud. Connect it back to H.O.M.E. Sign the three lines: new hire, trainer/Lead, Regional Manager. Note the themes for the 30-day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slowly, with eye contact. Five minutes of Q&amp;A, max. Before they leave: signed acknowledgment in the file, contact card filled, first-week schedule and login credentials in hand, sign-off checklist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2E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B1729"/>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0B1729"/>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2E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B1729"/>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0B1729"/>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C9A84C"/>
                </a:solidFill>
                <a:latin typeface="Arial" pitchFamily="34" charset="0"/>
                <a:ea typeface="Arial" pitchFamily="34" charset="-122"/>
                <a:cs typeface="Arial" pitchFamily="34" charset="-120"/>
              </a:rPr>
              <a:t>APEX CONCIERGE SERVICES · NEW HIRE EXPERIENCE</a:t>
            </a:r>
            <a:endParaRPr lang="en-US" sz="1200" dirty="0"/>
          </a:p>
        </p:txBody>
      </p:sp>
      <p:sp>
        <p:nvSpPr>
          <p:cNvPr id="3" name="Text 1"/>
          <p:cNvSpPr/>
          <p:nvPr>
            <p:ph type="title"/>
          </p:nvPr>
        </p:nvSpPr>
        <p:spPr>
          <a:xfrm>
            <a:off x="812800" y="243840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3ECDD"/>
                </a:solidFill>
                <a:latin typeface="Georgia" pitchFamily="18" charset="0"/>
                <a:ea typeface="Georgia" pitchFamily="18" charset="-122"/>
                <a:cs typeface="Georgia" pitchFamily="18" charset="-120"/>
              </a:rPr>
              <a:t>Welcome to </a:t>
            </a:r>
            <a:r>
              <a:rPr lang="en-US" sz="8000" b="1" i="1" dirty="0">
                <a:solidFill>
                  <a:srgbClr val="C9A84C"/>
                </a:solidFill>
                <a:latin typeface="Georgia" pitchFamily="18" charset="0"/>
                <a:ea typeface="Georgia" pitchFamily="18" charset="-122"/>
                <a:cs typeface="Georgia" pitchFamily="18" charset="-120"/>
              </a:rPr>
              <a:t>Apex.</a:t>
            </a:r>
            <a:endParaRPr lang="en-US" sz="8000" dirty="0"/>
          </a:p>
        </p:txBody>
      </p:sp>
      <p:sp>
        <p:nvSpPr>
          <p:cNvPr id="4" name="Text 2"/>
          <p:cNvSpPr/>
          <p:nvPr/>
        </p:nvSpPr>
        <p:spPr>
          <a:xfrm>
            <a:off x="812800" y="3657600"/>
            <a:ext cx="78486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EB6A6"/>
                </a:solidFill>
                <a:latin typeface="Arial" pitchFamily="34" charset="0"/>
                <a:ea typeface="Arial" pitchFamily="34" charset="-122"/>
                <a:cs typeface="Arial" pitchFamily="34" charset="-120"/>
              </a:rPr>
              <a:t>Where service becomes legacy. One day to learn the standard, practice it, walk your site, and prove it.</a:t>
            </a:r>
            <a:endParaRPr lang="en-US" sz="2200" dirty="0"/>
          </a:p>
        </p:txBody>
      </p:sp>
      <p:pic>
        <p:nvPicPr>
          <p:cNvPr id="5" name="Image 0" descr="line">    </p:cNvPr>
          <p:cNvPicPr>
            <a:picLocks noChangeAspect="1"/>
          </p:cNvPicPr>
          <p:nvPr/>
        </p:nvPicPr>
        <p:blipFill>
          <a:blip r:embed="rId1"/>
          <a:srcRect l="0" r="0" t="0" b="0"/>
          <a:stretch/>
        </p:blipFill>
        <p:spPr>
          <a:xfrm>
            <a:off x="812800" y="5914390"/>
            <a:ext cx="1016000" cy="12700"/>
          </a:xfrm>
          <a:prstGeom prst="rect">
            <a:avLst/>
          </a:prstGeom>
        </p:spPr>
      </p:pic>
      <p:sp>
        <p:nvSpPr>
          <p:cNvPr id="6" name="Text 3"/>
          <p:cNvSpPr/>
          <p:nvPr/>
        </p:nvSpPr>
        <p:spPr>
          <a:xfrm>
            <a:off x="2133600" y="5796280"/>
            <a:ext cx="3735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EB6A6"/>
                </a:solidFill>
                <a:latin typeface="Arial" pitchFamily="34" charset="0"/>
                <a:ea typeface="Arial" pitchFamily="34" charset="-122"/>
                <a:cs typeface="Arial" pitchFamily="34" charset="-120"/>
              </a:rPr>
              <a:t>Speed Day · About 9¼ hours · Any shift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YOUR DAY</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Three kinds of time, one packet</a:t>
            </a:r>
            <a:endParaRPr lang="en-US" sz="3600" dirty="0"/>
          </a:p>
        </p:txBody>
      </p:sp>
      <p:sp>
        <p:nvSpPr>
          <p:cNvPr id="4" name="Shape 2"/>
          <p:cNvSpPr/>
          <p:nvPr/>
        </p:nvSpPr>
        <p:spPr>
          <a:xfrm>
            <a:off x="819150" y="1992630"/>
            <a:ext cx="3373914" cy="2458720"/>
          </a:xfrm>
          <a:prstGeom prst="roundRect">
            <a:avLst>
              <a:gd name="adj" fmla="val 3874"/>
            </a:avLst>
          </a:prstGeom>
          <a:solidFill>
            <a:srgbClr val="FBF8F1"/>
          </a:solidFill>
          <a:ln w="12700">
            <a:solidFill>
              <a:srgbClr val="C9A84C"/>
            </a:solidFill>
            <a:prstDash val="solid"/>
          </a:ln>
        </p:spPr>
      </p:sp>
      <p:sp>
        <p:nvSpPr>
          <p:cNvPr id="5" name="Text 3"/>
          <p:cNvSpPr/>
          <p:nvPr/>
        </p:nvSpPr>
        <p:spPr>
          <a:xfrm>
            <a:off x="1076960" y="2250440"/>
            <a:ext cx="2944043"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LIVE</a:t>
            </a:r>
            <a:endParaRPr lang="en-US" sz="1200" dirty="0"/>
          </a:p>
        </p:txBody>
      </p:sp>
      <p:sp>
        <p:nvSpPr>
          <p:cNvPr id="6" name="Text 4"/>
          <p:cNvSpPr/>
          <p:nvPr/>
        </p:nvSpPr>
        <p:spPr>
          <a:xfrm>
            <a:off x="1076960" y="2590800"/>
            <a:ext cx="29440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B1729"/>
                </a:solidFill>
                <a:latin typeface="Georgia" pitchFamily="18" charset="0"/>
                <a:ea typeface="Georgia" pitchFamily="18" charset="-122"/>
                <a:cs typeface="Georgia" pitchFamily="18" charset="-120"/>
              </a:rPr>
              <a:t>With your trainer</a:t>
            </a:r>
            <a:endParaRPr lang="en-US" sz="2200" dirty="0"/>
          </a:p>
        </p:txBody>
      </p:sp>
      <p:sp>
        <p:nvSpPr>
          <p:cNvPr id="7" name="Text 5"/>
          <p:cNvSpPr/>
          <p:nvPr/>
        </p:nvSpPr>
        <p:spPr>
          <a:xfrm>
            <a:off x="1174242" y="3053080"/>
            <a:ext cx="2839141" cy="8255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Kickoff · 30 min</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Coach block · 90 min</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Sign-off · 30 min</a:t>
            </a:r>
            <a:endParaRPr lang="en-US" sz="1400" dirty="0"/>
          </a:p>
        </p:txBody>
      </p:sp>
      <p:sp>
        <p:nvSpPr>
          <p:cNvPr id="8" name="Text 6"/>
          <p:cNvSpPr/>
          <p:nvPr/>
        </p:nvSpPr>
        <p:spPr>
          <a:xfrm>
            <a:off x="1076960" y="3980180"/>
            <a:ext cx="29440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F6C"/>
                </a:solidFill>
                <a:latin typeface="Arial" pitchFamily="34" charset="0"/>
                <a:ea typeface="Arial" pitchFamily="34" charset="-122"/>
                <a:cs typeface="Arial" pitchFamily="34" charset="-120"/>
              </a:rPr>
              <a:t>About 2½ hours</a:t>
            </a:r>
            <a:endParaRPr lang="en-US" sz="1200" dirty="0"/>
          </a:p>
        </p:txBody>
      </p:sp>
      <p:sp>
        <p:nvSpPr>
          <p:cNvPr id="9" name="Shape 7"/>
          <p:cNvSpPr/>
          <p:nvPr/>
        </p:nvSpPr>
        <p:spPr>
          <a:xfrm>
            <a:off x="4408964" y="1992630"/>
            <a:ext cx="3373993" cy="2458720"/>
          </a:xfrm>
          <a:prstGeom prst="roundRect">
            <a:avLst>
              <a:gd name="adj" fmla="val 3874"/>
            </a:avLst>
          </a:prstGeom>
          <a:solidFill>
            <a:srgbClr val="FBF8F1"/>
          </a:solidFill>
          <a:ln w="12700">
            <a:solidFill>
              <a:srgbClr val="0B1729"/>
            </a:solidFill>
            <a:prstDash val="solid"/>
          </a:ln>
        </p:spPr>
      </p:sp>
      <p:sp>
        <p:nvSpPr>
          <p:cNvPr id="10" name="Text 8"/>
          <p:cNvSpPr/>
          <p:nvPr/>
        </p:nvSpPr>
        <p:spPr>
          <a:xfrm>
            <a:off x="4666774" y="2250440"/>
            <a:ext cx="294412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B1729"/>
                </a:solidFill>
                <a:latin typeface="Arial" pitchFamily="34" charset="0"/>
                <a:ea typeface="Arial" pitchFamily="34" charset="-122"/>
                <a:cs typeface="Arial" pitchFamily="34" charset="-120"/>
              </a:rPr>
              <a:t>SELF-GUIDED</a:t>
            </a:r>
            <a:endParaRPr lang="en-US" sz="1200" dirty="0"/>
          </a:p>
        </p:txBody>
      </p:sp>
      <p:sp>
        <p:nvSpPr>
          <p:cNvPr id="11" name="Text 9"/>
          <p:cNvSpPr/>
          <p:nvPr/>
        </p:nvSpPr>
        <p:spPr>
          <a:xfrm>
            <a:off x="4666774" y="2590800"/>
            <a:ext cx="29441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B1729"/>
                </a:solidFill>
                <a:latin typeface="Georgia" pitchFamily="18" charset="0"/>
                <a:ea typeface="Georgia" pitchFamily="18" charset="-122"/>
                <a:cs typeface="Georgia" pitchFamily="18" charset="-120"/>
              </a:rPr>
              <a:t>In your packet</a:t>
            </a:r>
            <a:endParaRPr lang="en-US" sz="2200" dirty="0"/>
          </a:p>
        </p:txBody>
      </p:sp>
      <p:sp>
        <p:nvSpPr>
          <p:cNvPr id="12" name="Text 10"/>
          <p:cNvSpPr/>
          <p:nvPr/>
        </p:nvSpPr>
        <p:spPr>
          <a:xfrm>
            <a:off x="4764056" y="3053080"/>
            <a:ext cx="2839222" cy="8255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Modules 1–3 · 3 hrs</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Module 4 · 60 min</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Final assessment · 45 min</a:t>
            </a:r>
            <a:endParaRPr lang="en-US" sz="1400" dirty="0"/>
          </a:p>
        </p:txBody>
      </p:sp>
      <p:sp>
        <p:nvSpPr>
          <p:cNvPr id="13" name="Text 11"/>
          <p:cNvSpPr/>
          <p:nvPr/>
        </p:nvSpPr>
        <p:spPr>
          <a:xfrm>
            <a:off x="4666774" y="3980180"/>
            <a:ext cx="29441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F6C"/>
                </a:solidFill>
                <a:latin typeface="Arial" pitchFamily="34" charset="0"/>
                <a:ea typeface="Arial" pitchFamily="34" charset="-122"/>
                <a:cs typeface="Arial" pitchFamily="34" charset="-120"/>
              </a:rPr>
              <a:t>About 5 hours</a:t>
            </a:r>
            <a:endParaRPr lang="en-US" sz="1200" dirty="0"/>
          </a:p>
        </p:txBody>
      </p:sp>
      <p:sp>
        <p:nvSpPr>
          <p:cNvPr id="14" name="Shape 12"/>
          <p:cNvSpPr/>
          <p:nvPr/>
        </p:nvSpPr>
        <p:spPr>
          <a:xfrm>
            <a:off x="7998857" y="1992630"/>
            <a:ext cx="3373993" cy="2458720"/>
          </a:xfrm>
          <a:prstGeom prst="roundRect">
            <a:avLst>
              <a:gd name="adj" fmla="val 3874"/>
            </a:avLst>
          </a:prstGeom>
          <a:solidFill>
            <a:srgbClr val="E3EFEC"/>
          </a:solidFill>
          <a:ln w="12700">
            <a:solidFill>
              <a:srgbClr val="1E5D58"/>
            </a:solidFill>
            <a:prstDash val="solid"/>
          </a:ln>
        </p:spPr>
      </p:sp>
      <p:sp>
        <p:nvSpPr>
          <p:cNvPr id="15" name="Text 13"/>
          <p:cNvSpPr/>
          <p:nvPr/>
        </p:nvSpPr>
        <p:spPr>
          <a:xfrm>
            <a:off x="8256667" y="2250440"/>
            <a:ext cx="294412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E5D58"/>
                </a:solidFill>
                <a:latin typeface="Arial" pitchFamily="34" charset="0"/>
                <a:ea typeface="Arial" pitchFamily="34" charset="-122"/>
                <a:cs typeface="Arial" pitchFamily="34" charset="-120"/>
              </a:rPr>
              <a:t>SHADOW</a:t>
            </a:r>
            <a:endParaRPr lang="en-US" sz="1200" dirty="0"/>
          </a:p>
        </p:txBody>
      </p:sp>
      <p:sp>
        <p:nvSpPr>
          <p:cNvPr id="16" name="Text 14"/>
          <p:cNvSpPr/>
          <p:nvPr/>
        </p:nvSpPr>
        <p:spPr>
          <a:xfrm>
            <a:off x="8256667" y="2590800"/>
            <a:ext cx="29441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B1729"/>
                </a:solidFill>
                <a:latin typeface="Georgia" pitchFamily="18" charset="0"/>
                <a:ea typeface="Georgia" pitchFamily="18" charset="-122"/>
                <a:cs typeface="Georgia" pitchFamily="18" charset="-120"/>
              </a:rPr>
              <a:t>On your property</a:t>
            </a:r>
            <a:endParaRPr lang="en-US" sz="2200" dirty="0"/>
          </a:p>
        </p:txBody>
      </p:sp>
      <p:sp>
        <p:nvSpPr>
          <p:cNvPr id="17" name="Text 15"/>
          <p:cNvSpPr/>
          <p:nvPr/>
        </p:nvSpPr>
        <p:spPr>
          <a:xfrm>
            <a:off x="8353949" y="3053080"/>
            <a:ext cx="2839222" cy="5588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Site walk with your Lead</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Real packages, a live tour entry</a:t>
            </a:r>
            <a:endParaRPr lang="en-US" sz="1400" dirty="0"/>
          </a:p>
        </p:txBody>
      </p:sp>
      <p:sp>
        <p:nvSpPr>
          <p:cNvPr id="18" name="Text 16"/>
          <p:cNvSpPr/>
          <p:nvPr/>
        </p:nvSpPr>
        <p:spPr>
          <a:xfrm>
            <a:off x="8256667" y="3713480"/>
            <a:ext cx="29441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F6C"/>
                </a:solidFill>
                <a:latin typeface="Arial" pitchFamily="34" charset="0"/>
                <a:ea typeface="Arial" pitchFamily="34" charset="-122"/>
                <a:cs typeface="Arial" pitchFamily="34" charset="-120"/>
              </a:rPr>
              <a:t>90 minutes</a:t>
            </a:r>
            <a:endParaRPr lang="en-US" sz="1200" dirty="0"/>
          </a:p>
        </p:txBody>
      </p:sp>
      <p:sp>
        <p:nvSpPr>
          <p:cNvPr id="19" name="Text 17"/>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Kickoff · 30-minute paid meal break after Module 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ph type="title"/>
          </p:nvPr>
        </p:nvSpPr>
        <p:spPr>
          <a:xfrm>
            <a:off x="812800" y="217678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ECDD"/>
                </a:solidFill>
                <a:latin typeface="Georgia" pitchFamily="18" charset="0"/>
                <a:ea typeface="Georgia" pitchFamily="18" charset="-122"/>
                <a:cs typeface="Georgia" pitchFamily="18" charset="-120"/>
              </a:rPr>
              <a:t>This is not a job.</a:t>
            </a:r>
            <a:endParaRPr lang="en-US" sz="6000" dirty="0"/>
          </a:p>
          <a:p>
            <a:pPr algn="l" indent="0" marL="0">
              <a:lnSpc>
                <a:spcPts val="6300"/>
              </a:lnSpc>
              <a:buNone/>
            </a:pPr>
            <a:r>
              <a:rPr lang="en-US" sz="6000" b="1" i="1" dirty="0">
                <a:solidFill>
                  <a:srgbClr val="C9A84C"/>
                </a:solidFill>
                <a:latin typeface="Georgia" pitchFamily="18" charset="0"/>
                <a:ea typeface="Georgia" pitchFamily="18" charset="-122"/>
                <a:cs typeface="Georgia" pitchFamily="18" charset="-120"/>
              </a:rPr>
              <a:t>This is a profession.</a:t>
            </a:r>
            <a:endParaRPr lang="en-US" sz="6000" dirty="0"/>
          </a:p>
        </p:txBody>
      </p:sp>
      <p:sp>
        <p:nvSpPr>
          <p:cNvPr id="3" name="Shape 1"/>
          <p:cNvSpPr/>
          <p:nvPr/>
        </p:nvSpPr>
        <p:spPr>
          <a:xfrm>
            <a:off x="812800" y="4240530"/>
            <a:ext cx="3318907" cy="0"/>
          </a:xfrm>
          <a:prstGeom prst="line">
            <a:avLst/>
          </a:prstGeom>
          <a:noFill/>
          <a:ln w="12700">
            <a:solidFill>
              <a:srgbClr val="C9A84C"/>
            </a:solidFill>
            <a:prstDash val="solid"/>
          </a:ln>
        </p:spPr>
      </p:sp>
      <p:sp>
        <p:nvSpPr>
          <p:cNvPr id="4" name="Text 2"/>
          <p:cNvSpPr/>
          <p:nvPr/>
        </p:nvSpPr>
        <p:spPr>
          <a:xfrm>
            <a:off x="812800" y="4396740"/>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EB6A6"/>
                </a:solidFill>
                <a:latin typeface="Arial" pitchFamily="34" charset="0"/>
                <a:ea typeface="Arial" pitchFamily="34" charset="-122"/>
                <a:cs typeface="Arial" pitchFamily="34" charset="-120"/>
              </a:rPr>
              <a:t>Presence over procedure.</a:t>
            </a:r>
            <a:endParaRPr lang="en-US" sz="1600" dirty="0"/>
          </a:p>
        </p:txBody>
      </p:sp>
      <p:sp>
        <p:nvSpPr>
          <p:cNvPr id="5" name="Shape 3"/>
          <p:cNvSpPr/>
          <p:nvPr/>
        </p:nvSpPr>
        <p:spPr>
          <a:xfrm>
            <a:off x="4436507" y="4240530"/>
            <a:ext cx="3318986" cy="0"/>
          </a:xfrm>
          <a:prstGeom prst="line">
            <a:avLst/>
          </a:prstGeom>
          <a:noFill/>
          <a:ln w="12700">
            <a:solidFill>
              <a:srgbClr val="C9A84C"/>
            </a:solidFill>
            <a:prstDash val="solid"/>
          </a:ln>
        </p:spPr>
      </p:sp>
      <p:sp>
        <p:nvSpPr>
          <p:cNvPr id="6" name="Text 4"/>
          <p:cNvSpPr/>
          <p:nvPr/>
        </p:nvSpPr>
        <p:spPr>
          <a:xfrm>
            <a:off x="4436507" y="4396740"/>
            <a:ext cx="341855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EB6A6"/>
                </a:solidFill>
                <a:latin typeface="Arial" pitchFamily="34" charset="0"/>
                <a:ea typeface="Arial" pitchFamily="34" charset="-122"/>
                <a:cs typeface="Arial" pitchFamily="34" charset="-120"/>
              </a:rPr>
              <a:t>Anticipation over reaction.</a:t>
            </a:r>
            <a:endParaRPr lang="en-US" sz="1600" dirty="0"/>
          </a:p>
        </p:txBody>
      </p:sp>
      <p:sp>
        <p:nvSpPr>
          <p:cNvPr id="7" name="Shape 5"/>
          <p:cNvSpPr/>
          <p:nvPr/>
        </p:nvSpPr>
        <p:spPr>
          <a:xfrm>
            <a:off x="8060293" y="4240530"/>
            <a:ext cx="3318907" cy="0"/>
          </a:xfrm>
          <a:prstGeom prst="line">
            <a:avLst/>
          </a:prstGeom>
          <a:noFill/>
          <a:ln w="12700">
            <a:solidFill>
              <a:srgbClr val="C9A84C"/>
            </a:solidFill>
            <a:prstDash val="solid"/>
          </a:ln>
        </p:spPr>
      </p:sp>
      <p:sp>
        <p:nvSpPr>
          <p:cNvPr id="8" name="Text 6"/>
          <p:cNvSpPr/>
          <p:nvPr/>
        </p:nvSpPr>
        <p:spPr>
          <a:xfrm>
            <a:off x="8060293" y="4396740"/>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EB6A6"/>
                </a:solidFill>
                <a:latin typeface="Arial" pitchFamily="34" charset="0"/>
                <a:ea typeface="Arial" pitchFamily="34" charset="-122"/>
                <a:cs typeface="Arial" pitchFamily="34" charset="-120"/>
              </a:rPr>
              <a:t>Consistency over convenience.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15303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5F6C"/>
                </a:solidFill>
                <a:latin typeface="Arial" pitchFamily="34" charset="0"/>
                <a:ea typeface="Arial" pitchFamily="34" charset="-122"/>
                <a:cs typeface="Arial" pitchFamily="34" charset="-120"/>
              </a:rPr>
              <a:t>We are not security. We are not reception. We are not building staff.</a:t>
            </a:r>
            <a:endParaRPr lang="en-US" sz="1600" dirty="0"/>
          </a:p>
        </p:txBody>
      </p:sp>
      <p:sp>
        <p:nvSpPr>
          <p:cNvPr id="3" name="Text 1"/>
          <p:cNvSpPr/>
          <p:nvPr>
            <p:ph type="title"/>
          </p:nvPr>
        </p:nvSpPr>
        <p:spPr>
          <a:xfrm>
            <a:off x="812800" y="2170430"/>
            <a:ext cx="9810750" cy="24257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0B1729"/>
                </a:solidFill>
                <a:latin typeface="Georgia" pitchFamily="18" charset="0"/>
                <a:ea typeface="Georgia" pitchFamily="18" charset="-122"/>
                <a:cs typeface="Georgia" pitchFamily="18" charset="-120"/>
              </a:rPr>
              <a:t>We are hospitality professionals inside someone's </a:t>
            </a:r>
            <a:r>
              <a:rPr lang="en-US" sz="6000" b="1" i="1" dirty="0">
                <a:solidFill>
                  <a:srgbClr val="7E5F1E"/>
                </a:solidFill>
                <a:latin typeface="Georgia" pitchFamily="18" charset="0"/>
                <a:ea typeface="Georgia" pitchFamily="18" charset="-122"/>
                <a:cs typeface="Georgia" pitchFamily="18" charset="-120"/>
              </a:rPr>
              <a:t>home.</a:t>
            </a:r>
            <a:endParaRPr lang="en-US" sz="6000" dirty="0"/>
          </a:p>
        </p:txBody>
      </p:sp>
      <p:sp>
        <p:nvSpPr>
          <p:cNvPr id="4" name="Text 2"/>
          <p:cNvSpPr/>
          <p:nvPr/>
        </p:nvSpPr>
        <p:spPr>
          <a:xfrm>
            <a:off x="812800" y="4926330"/>
            <a:ext cx="1500108" cy="401320"/>
          </a:xfrm>
          <a:prstGeom prst="roundRect">
            <a:avLst>
              <a:gd name="adj" fmla="val 50000"/>
            </a:avLst>
          </a:prstGeom>
          <a:solidFill>
            <a:srgbClr val="EFE5CC"/>
          </a:solidFill>
          <a:ln/>
        </p:spPr>
        <p:txBody>
          <a:bodyPr wrap="none" lIns="0" tIns="0" rIns="0" bIns="0" rtlCol="0" anchor="ctr">
            <a:normAutofit/>
          </a:bodyPr>
          <a:lstStyle/>
          <a:p>
            <a:pPr algn="ctr" indent="0" marL="0">
              <a:lnSpc>
                <a:spcPts val="1960"/>
              </a:lnSpc>
              <a:buNone/>
            </a:pPr>
            <a:r>
              <a:rPr lang="en-US" sz="1400" b="1" dirty="0">
                <a:solidFill>
                  <a:srgbClr val="0B1729"/>
                </a:solidFill>
                <a:latin typeface="Arial" pitchFamily="34" charset="0"/>
                <a:ea typeface="Arial" pitchFamily="34" charset="-122"/>
                <a:cs typeface="Arial" pitchFamily="34" charset="-120"/>
              </a:rPr>
              <a:t>H · Hospitality</a:t>
            </a:r>
            <a:endParaRPr lang="en-US" sz="1400" dirty="0"/>
          </a:p>
        </p:txBody>
      </p:sp>
      <p:sp>
        <p:nvSpPr>
          <p:cNvPr id="5" name="Text 3"/>
          <p:cNvSpPr/>
          <p:nvPr/>
        </p:nvSpPr>
        <p:spPr>
          <a:xfrm>
            <a:off x="2465308" y="4926330"/>
            <a:ext cx="1519952" cy="401320"/>
          </a:xfrm>
          <a:prstGeom prst="roundRect">
            <a:avLst>
              <a:gd name="adj" fmla="val 50000"/>
            </a:avLst>
          </a:prstGeom>
          <a:solidFill>
            <a:srgbClr val="EFE5CC"/>
          </a:solidFill>
          <a:ln/>
        </p:spPr>
        <p:txBody>
          <a:bodyPr wrap="none" lIns="0" tIns="0" rIns="0" bIns="0" rtlCol="0" anchor="ctr">
            <a:normAutofit/>
          </a:bodyPr>
          <a:lstStyle/>
          <a:p>
            <a:pPr algn="ctr" indent="0" marL="0">
              <a:lnSpc>
                <a:spcPts val="1960"/>
              </a:lnSpc>
              <a:buNone/>
            </a:pPr>
            <a:r>
              <a:rPr lang="en-US" sz="1400" b="1" dirty="0">
                <a:solidFill>
                  <a:srgbClr val="0B1729"/>
                </a:solidFill>
                <a:latin typeface="Arial" pitchFamily="34" charset="0"/>
                <a:ea typeface="Arial" pitchFamily="34" charset="-122"/>
                <a:cs typeface="Arial" pitchFamily="34" charset="-120"/>
              </a:rPr>
              <a:t>O · Ownership</a:t>
            </a:r>
            <a:endParaRPr lang="en-US" sz="1400" dirty="0"/>
          </a:p>
        </p:txBody>
      </p:sp>
      <p:sp>
        <p:nvSpPr>
          <p:cNvPr id="6" name="Text 4"/>
          <p:cNvSpPr/>
          <p:nvPr/>
        </p:nvSpPr>
        <p:spPr>
          <a:xfrm>
            <a:off x="4137660" y="4926330"/>
            <a:ext cx="1648143" cy="401320"/>
          </a:xfrm>
          <a:prstGeom prst="roundRect">
            <a:avLst>
              <a:gd name="adj" fmla="val 50000"/>
            </a:avLst>
          </a:prstGeom>
          <a:solidFill>
            <a:srgbClr val="EFE5CC"/>
          </a:solidFill>
          <a:ln/>
        </p:spPr>
        <p:txBody>
          <a:bodyPr wrap="none" lIns="0" tIns="0" rIns="0" bIns="0" rtlCol="0" anchor="ctr">
            <a:normAutofit/>
          </a:bodyPr>
          <a:lstStyle/>
          <a:p>
            <a:pPr algn="ctr" indent="0" marL="0">
              <a:lnSpc>
                <a:spcPts val="1960"/>
              </a:lnSpc>
              <a:buNone/>
            </a:pPr>
            <a:r>
              <a:rPr lang="en-US" sz="1400" b="1" dirty="0">
                <a:solidFill>
                  <a:srgbClr val="0B1729"/>
                </a:solidFill>
                <a:latin typeface="Arial" pitchFamily="34" charset="0"/>
                <a:ea typeface="Arial" pitchFamily="34" charset="-122"/>
                <a:cs typeface="Arial" pitchFamily="34" charset="-120"/>
              </a:rPr>
              <a:t>M · Mindfulness</a:t>
            </a:r>
            <a:endParaRPr lang="en-US" sz="1400" dirty="0"/>
          </a:p>
        </p:txBody>
      </p:sp>
      <p:sp>
        <p:nvSpPr>
          <p:cNvPr id="7" name="Text 5"/>
          <p:cNvSpPr/>
          <p:nvPr/>
        </p:nvSpPr>
        <p:spPr>
          <a:xfrm>
            <a:off x="5938203" y="4926330"/>
            <a:ext cx="1500743" cy="401320"/>
          </a:xfrm>
          <a:prstGeom prst="roundRect">
            <a:avLst>
              <a:gd name="adj" fmla="val 50000"/>
            </a:avLst>
          </a:prstGeom>
          <a:solidFill>
            <a:srgbClr val="EFE5CC"/>
          </a:solidFill>
          <a:ln/>
        </p:spPr>
        <p:txBody>
          <a:bodyPr wrap="none" lIns="0" tIns="0" rIns="0" bIns="0" rtlCol="0" anchor="ctr">
            <a:normAutofit/>
          </a:bodyPr>
          <a:lstStyle/>
          <a:p>
            <a:pPr algn="ctr" indent="0" marL="0">
              <a:lnSpc>
                <a:spcPts val="1960"/>
              </a:lnSpc>
              <a:buNone/>
            </a:pPr>
            <a:r>
              <a:rPr lang="en-US" sz="1400" b="1" dirty="0">
                <a:solidFill>
                  <a:srgbClr val="0B1729"/>
                </a:solidFill>
                <a:latin typeface="Arial" pitchFamily="34" charset="0"/>
                <a:ea typeface="Arial" pitchFamily="34" charset="-122"/>
                <a:cs typeface="Arial" pitchFamily="34" charset="-120"/>
              </a:rPr>
              <a:t>E · Excellence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HOW YOU FINISH TODAY</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Seven gates</a:t>
            </a:r>
            <a:endParaRPr lang="en-US" sz="3600" dirty="0"/>
          </a:p>
        </p:txBody>
      </p:sp>
      <p:sp>
        <p:nvSpPr>
          <p:cNvPr id="4" name="Shape 2"/>
          <p:cNvSpPr/>
          <p:nvPr/>
        </p:nvSpPr>
        <p:spPr>
          <a:xfrm>
            <a:off x="812800" y="1938657"/>
            <a:ext cx="5283200" cy="0"/>
          </a:xfrm>
          <a:prstGeom prst="line">
            <a:avLst/>
          </a:prstGeom>
          <a:noFill/>
          <a:ln w="6350">
            <a:solidFill>
              <a:srgbClr val="D9CFBC"/>
            </a:solidFill>
            <a:prstDash val="solid"/>
          </a:ln>
        </p:spPr>
      </p:sp>
      <p:sp>
        <p:nvSpPr>
          <p:cNvPr id="5" name="Text 3"/>
          <p:cNvSpPr/>
          <p:nvPr/>
        </p:nvSpPr>
        <p:spPr>
          <a:xfrm>
            <a:off x="812800" y="2067561"/>
            <a:ext cx="22502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1</a:t>
            </a:r>
            <a:endParaRPr lang="en-US" sz="2800" dirty="0"/>
          </a:p>
        </p:txBody>
      </p:sp>
      <p:sp>
        <p:nvSpPr>
          <p:cNvPr id="6" name="Text 4"/>
          <p:cNvSpPr/>
          <p:nvPr/>
        </p:nvSpPr>
        <p:spPr>
          <a:xfrm>
            <a:off x="1139428" y="2174239"/>
            <a:ext cx="304990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Pass the Module 1 checkpoint</a:t>
            </a:r>
            <a:endParaRPr lang="en-US" sz="1500" dirty="0"/>
          </a:p>
        </p:txBody>
      </p:sp>
      <p:sp>
        <p:nvSpPr>
          <p:cNvPr id="7" name="Shape 5"/>
          <p:cNvSpPr/>
          <p:nvPr/>
        </p:nvSpPr>
        <p:spPr>
          <a:xfrm>
            <a:off x="6096000" y="1938657"/>
            <a:ext cx="5283200" cy="0"/>
          </a:xfrm>
          <a:prstGeom prst="line">
            <a:avLst/>
          </a:prstGeom>
          <a:noFill/>
          <a:ln w="6350">
            <a:solidFill>
              <a:srgbClr val="D9CFBC"/>
            </a:solidFill>
            <a:prstDash val="solid"/>
          </a:ln>
        </p:spPr>
      </p:sp>
      <p:sp>
        <p:nvSpPr>
          <p:cNvPr id="8" name="Text 6"/>
          <p:cNvSpPr/>
          <p:nvPr/>
        </p:nvSpPr>
        <p:spPr>
          <a:xfrm>
            <a:off x="6096000" y="2067561"/>
            <a:ext cx="26392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5</a:t>
            </a:r>
            <a:endParaRPr lang="en-US" sz="2800" dirty="0"/>
          </a:p>
        </p:txBody>
      </p:sp>
      <p:sp>
        <p:nvSpPr>
          <p:cNvPr id="9" name="Text 7"/>
          <p:cNvSpPr/>
          <p:nvPr/>
        </p:nvSpPr>
        <p:spPr>
          <a:xfrm>
            <a:off x="6461522" y="2174239"/>
            <a:ext cx="38501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Complete the site walk with your Lead</a:t>
            </a:r>
            <a:endParaRPr lang="en-US" sz="1500" dirty="0"/>
          </a:p>
        </p:txBody>
      </p:sp>
      <p:sp>
        <p:nvSpPr>
          <p:cNvPr id="10" name="Shape 8"/>
          <p:cNvSpPr/>
          <p:nvPr/>
        </p:nvSpPr>
        <p:spPr>
          <a:xfrm>
            <a:off x="812800" y="2434589"/>
            <a:ext cx="5283200" cy="0"/>
          </a:xfrm>
          <a:prstGeom prst="line">
            <a:avLst/>
          </a:prstGeom>
          <a:noFill/>
          <a:ln w="6350">
            <a:solidFill>
              <a:srgbClr val="D9CFBC"/>
            </a:solidFill>
            <a:prstDash val="solid"/>
          </a:ln>
        </p:spPr>
      </p:sp>
      <p:sp>
        <p:nvSpPr>
          <p:cNvPr id="11" name="Text 9"/>
          <p:cNvSpPr/>
          <p:nvPr/>
        </p:nvSpPr>
        <p:spPr>
          <a:xfrm>
            <a:off x="812800" y="2563496"/>
            <a:ext cx="27360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2</a:t>
            </a:r>
            <a:endParaRPr lang="en-US" sz="2800" dirty="0"/>
          </a:p>
        </p:txBody>
      </p:sp>
      <p:sp>
        <p:nvSpPr>
          <p:cNvPr id="12" name="Text 10"/>
          <p:cNvSpPr/>
          <p:nvPr/>
        </p:nvSpPr>
        <p:spPr>
          <a:xfrm>
            <a:off x="1188006" y="2670175"/>
            <a:ext cx="490799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Pass Module 2 and sign the conduct acknowledgment</a:t>
            </a:r>
            <a:endParaRPr lang="en-US" sz="1500" dirty="0"/>
          </a:p>
        </p:txBody>
      </p:sp>
      <p:sp>
        <p:nvSpPr>
          <p:cNvPr id="13" name="Shape 11"/>
          <p:cNvSpPr/>
          <p:nvPr/>
        </p:nvSpPr>
        <p:spPr>
          <a:xfrm>
            <a:off x="6096000" y="2434589"/>
            <a:ext cx="5283200" cy="0"/>
          </a:xfrm>
          <a:prstGeom prst="line">
            <a:avLst/>
          </a:prstGeom>
          <a:noFill/>
          <a:ln w="6350">
            <a:solidFill>
              <a:srgbClr val="D9CFBC"/>
            </a:solidFill>
            <a:prstDash val="solid"/>
          </a:ln>
        </p:spPr>
      </p:sp>
      <p:sp>
        <p:nvSpPr>
          <p:cNvPr id="14" name="Text 12"/>
          <p:cNvSpPr/>
          <p:nvPr/>
        </p:nvSpPr>
        <p:spPr>
          <a:xfrm>
            <a:off x="6096000" y="2563496"/>
            <a:ext cx="28122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6</a:t>
            </a:r>
            <a:endParaRPr lang="en-US" sz="2800" dirty="0"/>
          </a:p>
        </p:txBody>
      </p:sp>
      <p:sp>
        <p:nvSpPr>
          <p:cNvPr id="15" name="Text 13"/>
          <p:cNvSpPr/>
          <p:nvPr/>
        </p:nvSpPr>
        <p:spPr>
          <a:xfrm>
            <a:off x="6478826" y="2670175"/>
            <a:ext cx="454914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Score 80% or higher on the final assessment</a:t>
            </a:r>
            <a:endParaRPr lang="en-US" sz="1500" dirty="0"/>
          </a:p>
        </p:txBody>
      </p:sp>
      <p:sp>
        <p:nvSpPr>
          <p:cNvPr id="16" name="Shape 14"/>
          <p:cNvSpPr/>
          <p:nvPr/>
        </p:nvSpPr>
        <p:spPr>
          <a:xfrm>
            <a:off x="812800" y="2930525"/>
            <a:ext cx="5283200" cy="0"/>
          </a:xfrm>
          <a:prstGeom prst="line">
            <a:avLst/>
          </a:prstGeom>
          <a:noFill/>
          <a:ln w="6350">
            <a:solidFill>
              <a:srgbClr val="D9CFBC"/>
            </a:solidFill>
            <a:prstDash val="solid"/>
          </a:ln>
        </p:spPr>
      </p:sp>
      <p:sp>
        <p:nvSpPr>
          <p:cNvPr id="17" name="Text 15"/>
          <p:cNvSpPr/>
          <p:nvPr/>
        </p:nvSpPr>
        <p:spPr>
          <a:xfrm>
            <a:off x="812800" y="3059432"/>
            <a:ext cx="27289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3</a:t>
            </a:r>
            <a:endParaRPr lang="en-US" sz="2800" dirty="0"/>
          </a:p>
        </p:txBody>
      </p:sp>
      <p:sp>
        <p:nvSpPr>
          <p:cNvPr id="18" name="Text 16"/>
          <p:cNvSpPr/>
          <p:nvPr/>
        </p:nvSpPr>
        <p:spPr>
          <a:xfrm>
            <a:off x="1187291" y="3166111"/>
            <a:ext cx="4908709"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Pass Module 3 and write three practice log entries</a:t>
            </a:r>
            <a:endParaRPr lang="en-US" sz="1500" dirty="0"/>
          </a:p>
        </p:txBody>
      </p:sp>
      <p:sp>
        <p:nvSpPr>
          <p:cNvPr id="19" name="Shape 17"/>
          <p:cNvSpPr/>
          <p:nvPr/>
        </p:nvSpPr>
        <p:spPr>
          <a:xfrm>
            <a:off x="6096000" y="2930525"/>
            <a:ext cx="5283200" cy="0"/>
          </a:xfrm>
          <a:prstGeom prst="line">
            <a:avLst/>
          </a:prstGeom>
          <a:noFill/>
          <a:ln w="6350">
            <a:solidFill>
              <a:srgbClr val="D9CFBC"/>
            </a:solidFill>
            <a:prstDash val="solid"/>
          </a:ln>
        </p:spPr>
      </p:sp>
      <p:sp>
        <p:nvSpPr>
          <p:cNvPr id="20" name="Text 18"/>
          <p:cNvSpPr/>
          <p:nvPr/>
        </p:nvSpPr>
        <p:spPr>
          <a:xfrm>
            <a:off x="6096000" y="3059432"/>
            <a:ext cx="2478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7</a:t>
            </a:r>
            <a:endParaRPr lang="en-US" sz="2800" dirty="0"/>
          </a:p>
        </p:txBody>
      </p:sp>
      <p:sp>
        <p:nvSpPr>
          <p:cNvPr id="21" name="Text 19"/>
          <p:cNvSpPr/>
          <p:nvPr/>
        </p:nvSpPr>
        <p:spPr>
          <a:xfrm>
            <a:off x="6445488" y="3166111"/>
            <a:ext cx="382028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Complete the trainer sign-off checklist</a:t>
            </a:r>
            <a:endParaRPr lang="en-US" sz="1500" dirty="0"/>
          </a:p>
        </p:txBody>
      </p:sp>
      <p:sp>
        <p:nvSpPr>
          <p:cNvPr id="22" name="Shape 20"/>
          <p:cNvSpPr/>
          <p:nvPr/>
        </p:nvSpPr>
        <p:spPr>
          <a:xfrm>
            <a:off x="812800" y="3426461"/>
            <a:ext cx="5283200" cy="0"/>
          </a:xfrm>
          <a:prstGeom prst="line">
            <a:avLst/>
          </a:prstGeom>
          <a:noFill/>
          <a:ln w="6350">
            <a:solidFill>
              <a:srgbClr val="D9CFBC"/>
            </a:solidFill>
            <a:prstDash val="solid"/>
          </a:ln>
        </p:spPr>
      </p:sp>
      <p:sp>
        <p:nvSpPr>
          <p:cNvPr id="23" name="Text 21"/>
          <p:cNvSpPr/>
          <p:nvPr/>
        </p:nvSpPr>
        <p:spPr>
          <a:xfrm>
            <a:off x="812800" y="3555364"/>
            <a:ext cx="28178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4</a:t>
            </a:r>
            <a:endParaRPr lang="en-US" sz="2800" dirty="0"/>
          </a:p>
        </p:txBody>
      </p:sp>
      <p:sp>
        <p:nvSpPr>
          <p:cNvPr id="24" name="Text 22"/>
          <p:cNvSpPr/>
          <p:nvPr/>
        </p:nvSpPr>
        <p:spPr>
          <a:xfrm>
            <a:off x="1196181" y="3662046"/>
            <a:ext cx="304990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Pass the Module 4 checkpoint</a:t>
            </a:r>
            <a:endParaRPr lang="en-US" sz="1500" dirty="0"/>
          </a:p>
        </p:txBody>
      </p:sp>
      <p:sp>
        <p:nvSpPr>
          <p:cNvPr id="25" name="Text 2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Kickoff · The progress bar at the top of the packet tracks all seven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9A84C"/>
        </a:solidFill>
      </p:bgPr>
    </p:bg>
    <p:spTree>
      <p:nvGrpSpPr>
        <p:cNvPr id="1" name=""/>
        <p:cNvGrpSpPr/>
        <p:nvPr/>
      </p:nvGrpSpPr>
      <p:grpSpPr>
        <a:xfrm>
          <a:off x="0" y="0"/>
          <a:ext cx="0" cy="0"/>
          <a:chOff x="0" y="0"/>
          <a:chExt cx="0" cy="0"/>
        </a:xfrm>
      </p:grpSpPr>
      <p:sp>
        <p:nvSpPr>
          <p:cNvPr id="2" name="Text 0"/>
          <p:cNvSpPr/>
          <p:nvPr/>
        </p:nvSpPr>
        <p:spPr>
          <a:xfrm>
            <a:off x="812800" y="2288539"/>
            <a:ext cx="512775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B1729"/>
                </a:solidFill>
                <a:latin typeface="Arial" pitchFamily="34" charset="0"/>
                <a:ea typeface="Arial" pitchFamily="34" charset="-122"/>
                <a:cs typeface="Arial" pitchFamily="34" charset="-120"/>
              </a:rPr>
              <a:t>SELF-GUIDED · ABOUT 4½ HOURS</a:t>
            </a:r>
            <a:endParaRPr lang="en-US" sz="1200" dirty="0"/>
          </a:p>
        </p:txBody>
      </p:sp>
      <p:sp>
        <p:nvSpPr>
          <p:cNvPr id="3" name="Text 1"/>
          <p:cNvSpPr/>
          <p:nvPr>
            <p:ph type="title"/>
          </p:nvPr>
        </p:nvSpPr>
        <p:spPr>
          <a:xfrm>
            <a:off x="812800" y="2705100"/>
            <a:ext cx="5588000"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0B1729"/>
                </a:solidFill>
                <a:latin typeface="Georgia" pitchFamily="18" charset="0"/>
                <a:ea typeface="Georgia" pitchFamily="18" charset="-122"/>
                <a:cs typeface="Georgia" pitchFamily="18" charset="-120"/>
              </a:rPr>
              <a:t>Your turn.</a:t>
            </a:r>
            <a:endParaRPr lang="en-US" sz="7000" dirty="0"/>
          </a:p>
        </p:txBody>
      </p:sp>
      <p:sp>
        <p:nvSpPr>
          <p:cNvPr id="4" name="Text 2"/>
          <p:cNvSpPr/>
          <p:nvPr/>
        </p:nvSpPr>
        <p:spPr>
          <a:xfrm>
            <a:off x="812800" y="3797300"/>
            <a:ext cx="512775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2638"/>
                </a:solidFill>
                <a:latin typeface="Arial" pitchFamily="34" charset="0"/>
                <a:ea typeface="Arial" pitchFamily="34" charset="-122"/>
                <a:cs typeface="Arial" pitchFamily="34" charset="-120"/>
              </a:rPr>
              <a:t>Work the packet in order. Pass each checkpoint before you move on. I'll check in at the start of each module.</a:t>
            </a:r>
            <a:endParaRPr lang="en-US" sz="1600" dirty="0"/>
          </a:p>
        </p:txBody>
      </p:sp>
      <p:sp>
        <p:nvSpPr>
          <p:cNvPr id="5" name="Shape 3"/>
          <p:cNvSpPr/>
          <p:nvPr/>
        </p:nvSpPr>
        <p:spPr>
          <a:xfrm>
            <a:off x="6400800" y="2001521"/>
            <a:ext cx="4978400" cy="0"/>
          </a:xfrm>
          <a:prstGeom prst="line">
            <a:avLst/>
          </a:prstGeom>
          <a:noFill/>
          <a:ln w="12700">
            <a:solidFill>
              <a:srgbClr val="0B1729"/>
            </a:solidFill>
            <a:prstDash val="solid"/>
          </a:ln>
        </p:spPr>
      </p:sp>
      <p:sp>
        <p:nvSpPr>
          <p:cNvPr id="6" name="Text 4"/>
          <p:cNvSpPr/>
          <p:nvPr/>
        </p:nvSpPr>
        <p:spPr>
          <a:xfrm>
            <a:off x="6400800" y="2132332"/>
            <a:ext cx="87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75 min</a:t>
            </a:r>
            <a:endParaRPr lang="en-US" sz="1500" dirty="0"/>
          </a:p>
        </p:txBody>
      </p:sp>
      <p:sp>
        <p:nvSpPr>
          <p:cNvPr id="7" name="Text 5"/>
          <p:cNvSpPr/>
          <p:nvPr/>
        </p:nvSpPr>
        <p:spPr>
          <a:xfrm>
            <a:off x="7429500" y="2132332"/>
            <a:ext cx="3100578" cy="292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Module 1 · Identity &amp; presence</a:t>
            </a:r>
            <a:endParaRPr lang="en-US" sz="1500" dirty="0"/>
          </a:p>
        </p:txBody>
      </p:sp>
      <p:sp>
        <p:nvSpPr>
          <p:cNvPr id="8" name="Shape 6"/>
          <p:cNvSpPr/>
          <p:nvPr/>
        </p:nvSpPr>
        <p:spPr>
          <a:xfrm>
            <a:off x="6400800" y="2532382"/>
            <a:ext cx="4978400" cy="0"/>
          </a:xfrm>
          <a:prstGeom prst="line">
            <a:avLst/>
          </a:prstGeom>
          <a:noFill/>
          <a:ln w="12700">
            <a:solidFill>
              <a:srgbClr val="0B1729"/>
            </a:solidFill>
            <a:prstDash val="solid"/>
          </a:ln>
        </p:spPr>
      </p:sp>
      <p:sp>
        <p:nvSpPr>
          <p:cNvPr id="9" name="Text 7"/>
          <p:cNvSpPr/>
          <p:nvPr/>
        </p:nvSpPr>
        <p:spPr>
          <a:xfrm>
            <a:off x="6400800" y="2663189"/>
            <a:ext cx="87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45 min</a:t>
            </a:r>
            <a:endParaRPr lang="en-US" sz="1500" dirty="0"/>
          </a:p>
        </p:txBody>
      </p:sp>
      <p:sp>
        <p:nvSpPr>
          <p:cNvPr id="10" name="Text 8"/>
          <p:cNvSpPr/>
          <p:nvPr/>
        </p:nvSpPr>
        <p:spPr>
          <a:xfrm>
            <a:off x="7429500" y="2663189"/>
            <a:ext cx="4013741" cy="292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Module 2 · Policies. Sign the acknowledgment</a:t>
            </a:r>
            <a:endParaRPr lang="en-US" sz="1500" dirty="0"/>
          </a:p>
        </p:txBody>
      </p:sp>
      <p:sp>
        <p:nvSpPr>
          <p:cNvPr id="11" name="Shape 9"/>
          <p:cNvSpPr/>
          <p:nvPr/>
        </p:nvSpPr>
        <p:spPr>
          <a:xfrm>
            <a:off x="6400800" y="3063239"/>
            <a:ext cx="4978400" cy="0"/>
          </a:xfrm>
          <a:prstGeom prst="line">
            <a:avLst/>
          </a:prstGeom>
          <a:noFill/>
          <a:ln w="12700">
            <a:solidFill>
              <a:srgbClr val="0B1729"/>
            </a:solidFill>
            <a:prstDash val="solid"/>
          </a:ln>
        </p:spPr>
      </p:sp>
      <p:sp>
        <p:nvSpPr>
          <p:cNvPr id="12" name="Text 10"/>
          <p:cNvSpPr/>
          <p:nvPr/>
        </p:nvSpPr>
        <p:spPr>
          <a:xfrm>
            <a:off x="6400800" y="3194050"/>
            <a:ext cx="87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60 min</a:t>
            </a:r>
            <a:endParaRPr lang="en-US" sz="1500" dirty="0"/>
          </a:p>
        </p:txBody>
      </p:sp>
      <p:sp>
        <p:nvSpPr>
          <p:cNvPr id="13" name="Text 11"/>
          <p:cNvSpPr/>
          <p:nvPr/>
        </p:nvSpPr>
        <p:spPr>
          <a:xfrm>
            <a:off x="7429500" y="3194050"/>
            <a:ext cx="3949700" cy="292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Module 3 · Desk &amp; shift log. Write 3 entries</a:t>
            </a:r>
            <a:endParaRPr lang="en-US" sz="1500" dirty="0"/>
          </a:p>
        </p:txBody>
      </p:sp>
      <p:sp>
        <p:nvSpPr>
          <p:cNvPr id="14" name="Shape 12"/>
          <p:cNvSpPr/>
          <p:nvPr/>
        </p:nvSpPr>
        <p:spPr>
          <a:xfrm>
            <a:off x="6400800" y="3594100"/>
            <a:ext cx="4978400" cy="0"/>
          </a:xfrm>
          <a:prstGeom prst="line">
            <a:avLst/>
          </a:prstGeom>
          <a:noFill/>
          <a:ln w="12700">
            <a:solidFill>
              <a:srgbClr val="0B1729"/>
            </a:solidFill>
            <a:prstDash val="solid"/>
          </a:ln>
        </p:spPr>
      </p:sp>
      <p:sp>
        <p:nvSpPr>
          <p:cNvPr id="15" name="Text 13"/>
          <p:cNvSpPr/>
          <p:nvPr/>
        </p:nvSpPr>
        <p:spPr>
          <a:xfrm>
            <a:off x="6400800" y="3724911"/>
            <a:ext cx="87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30 min</a:t>
            </a:r>
            <a:endParaRPr lang="en-US" sz="1500" dirty="0"/>
          </a:p>
        </p:txBody>
      </p:sp>
      <p:sp>
        <p:nvSpPr>
          <p:cNvPr id="16" name="Text 14"/>
          <p:cNvSpPr/>
          <p:nvPr/>
        </p:nvSpPr>
        <p:spPr>
          <a:xfrm>
            <a:off x="7429500" y="3724911"/>
            <a:ext cx="1690116" cy="292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Meal break, paid</a:t>
            </a:r>
            <a:endParaRPr lang="en-US" sz="1500" dirty="0"/>
          </a:p>
        </p:txBody>
      </p:sp>
      <p:sp>
        <p:nvSpPr>
          <p:cNvPr id="17" name="Shape 15"/>
          <p:cNvSpPr/>
          <p:nvPr/>
        </p:nvSpPr>
        <p:spPr>
          <a:xfrm>
            <a:off x="6400800" y="4124961"/>
            <a:ext cx="4978400" cy="0"/>
          </a:xfrm>
          <a:prstGeom prst="line">
            <a:avLst/>
          </a:prstGeom>
          <a:noFill/>
          <a:ln w="12700">
            <a:solidFill>
              <a:srgbClr val="0B1729"/>
            </a:solidFill>
            <a:prstDash val="solid"/>
          </a:ln>
        </p:spPr>
      </p:sp>
      <p:sp>
        <p:nvSpPr>
          <p:cNvPr id="18" name="Shape 16"/>
          <p:cNvSpPr/>
          <p:nvPr/>
        </p:nvSpPr>
        <p:spPr>
          <a:xfrm>
            <a:off x="6400800" y="4653281"/>
            <a:ext cx="4978400" cy="0"/>
          </a:xfrm>
          <a:prstGeom prst="line">
            <a:avLst/>
          </a:prstGeom>
          <a:noFill/>
          <a:ln w="12700">
            <a:solidFill>
              <a:srgbClr val="0B1729"/>
            </a:solidFill>
            <a:prstDash val="solid"/>
          </a:ln>
        </p:spPr>
      </p:sp>
      <p:sp>
        <p:nvSpPr>
          <p:cNvPr id="19" name="Text 17"/>
          <p:cNvSpPr/>
          <p:nvPr/>
        </p:nvSpPr>
        <p:spPr>
          <a:xfrm>
            <a:off x="6400800" y="4255771"/>
            <a:ext cx="87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60 min</a:t>
            </a:r>
            <a:endParaRPr lang="en-US" sz="1500" dirty="0"/>
          </a:p>
        </p:txBody>
      </p:sp>
      <p:sp>
        <p:nvSpPr>
          <p:cNvPr id="20" name="Text 18"/>
          <p:cNvSpPr/>
          <p:nvPr/>
        </p:nvSpPr>
        <p:spPr>
          <a:xfrm>
            <a:off x="7429500" y="4255771"/>
            <a:ext cx="3735800" cy="292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Module 4 · Packages &amp; emergencies</a:t>
            </a:r>
            <a:endParaRPr lang="en-US" sz="1500" dirty="0"/>
          </a:p>
        </p:txBody>
      </p:sp>
      <p:sp>
        <p:nvSpPr>
          <p:cNvPr id="21" name="Text 1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638"/>
                </a:solidFill>
                <a:latin typeface="Arial" pitchFamily="34" charset="0"/>
                <a:ea typeface="Arial" pitchFamily="34" charset="-122"/>
                <a:cs typeface="Arial" pitchFamily="34" charset="-120"/>
              </a:rPr>
              <a:t>Apex NHE Speed Day · Kickoff ends · Stretch breaks are yours to take, two × 10 minutes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MODULE 1 · 75 MINUTES · SELF-GUIDED</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Identity &amp; presence</a:t>
            </a:r>
            <a:endParaRPr lang="en-US" sz="3600" dirty="0"/>
          </a:p>
        </p:txBody>
      </p:sp>
      <p:sp>
        <p:nvSpPr>
          <p:cNvPr id="4" name="Text 2"/>
          <p:cNvSpPr/>
          <p:nvPr/>
        </p:nvSpPr>
        <p:spPr>
          <a:xfrm>
            <a:off x="812800" y="1986282"/>
            <a:ext cx="41022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A5F6C"/>
                </a:solidFill>
                <a:latin typeface="Arial" pitchFamily="34" charset="0"/>
                <a:ea typeface="Arial" pitchFamily="34" charset="-122"/>
                <a:cs typeface="Arial" pitchFamily="34" charset="-120"/>
              </a:rPr>
              <a:t>IN YOUR PACKET</a:t>
            </a:r>
            <a:endParaRPr lang="en-US" sz="1200" dirty="0"/>
          </a:p>
        </p:txBody>
      </p:sp>
      <p:sp>
        <p:nvSpPr>
          <p:cNvPr id="5" name="Text 3"/>
          <p:cNvSpPr/>
          <p:nvPr/>
        </p:nvSpPr>
        <p:spPr>
          <a:xfrm>
            <a:off x="910082" y="2326639"/>
            <a:ext cx="3997300" cy="140335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H.O.M.E. values</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The Apex Standard</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Uniform standard</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Say the five reframes out loud</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Reflection, then Checkpoint 1</a:t>
            </a:r>
            <a:endParaRPr lang="en-US" sz="1400" dirty="0"/>
          </a:p>
        </p:txBody>
      </p:sp>
      <p:sp>
        <p:nvSpPr>
          <p:cNvPr id="6" name="Text 4"/>
          <p:cNvSpPr/>
          <p:nvPr/>
        </p:nvSpPr>
        <p:spPr>
          <a:xfrm>
            <a:off x="5405120" y="1986282"/>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A5F6C"/>
                </a:solidFill>
                <a:latin typeface="Arial" pitchFamily="34" charset="0"/>
                <a:ea typeface="Arial" pitchFamily="34" charset="-122"/>
                <a:cs typeface="Arial" pitchFamily="34" charset="-120"/>
              </a:rPr>
              <a:t>WHAT MATTERS MOST</a:t>
            </a:r>
            <a:endParaRPr lang="en-US" sz="1200" dirty="0"/>
          </a:p>
        </p:txBody>
      </p:sp>
      <p:sp>
        <p:nvSpPr>
          <p:cNvPr id="7" name="Shape 5"/>
          <p:cNvSpPr/>
          <p:nvPr/>
        </p:nvSpPr>
        <p:spPr>
          <a:xfrm>
            <a:off x="5405120" y="2329814"/>
            <a:ext cx="5974080" cy="0"/>
          </a:xfrm>
          <a:prstGeom prst="line">
            <a:avLst/>
          </a:prstGeom>
          <a:noFill/>
          <a:ln w="6350">
            <a:solidFill>
              <a:srgbClr val="D9CFBC"/>
            </a:solidFill>
            <a:prstDash val="solid"/>
          </a:ln>
        </p:spPr>
      </p:sp>
      <p:sp>
        <p:nvSpPr>
          <p:cNvPr id="8" name="Text 6"/>
          <p:cNvSpPr/>
          <p:nvPr/>
        </p:nvSpPr>
        <p:spPr>
          <a:xfrm>
            <a:off x="5405120" y="2471421"/>
            <a:ext cx="19653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1</a:t>
            </a:r>
            <a:endParaRPr lang="en-US" sz="2800" dirty="0"/>
          </a:p>
        </p:txBody>
      </p:sp>
      <p:sp>
        <p:nvSpPr>
          <p:cNvPr id="9" name="Text 7"/>
          <p:cNvSpPr/>
          <p:nvPr/>
        </p:nvSpPr>
        <p:spPr>
          <a:xfrm>
            <a:off x="5728653" y="2562861"/>
            <a:ext cx="5820064"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You set the temperature of the lobby.</a:t>
            </a:r>
            <a:r>
              <a:rPr lang="en-US" sz="1600" dirty="0">
                <a:solidFill>
                  <a:srgbClr val="0B1729"/>
                </a:solidFill>
                <a:latin typeface="Arial" pitchFamily="34" charset="0"/>
                <a:ea typeface="Arial" pitchFamily="34" charset="-122"/>
                <a:cs typeface="Arial" pitchFamily="34" charset="-120"/>
              </a:rPr>
              <a:t> Energy is visible before you speak.</a:t>
            </a:r>
            <a:endParaRPr lang="en-US" sz="1600" dirty="0"/>
          </a:p>
        </p:txBody>
      </p:sp>
      <p:sp>
        <p:nvSpPr>
          <p:cNvPr id="10" name="Shape 8"/>
          <p:cNvSpPr/>
          <p:nvPr/>
        </p:nvSpPr>
        <p:spPr>
          <a:xfrm>
            <a:off x="5405120" y="3254375"/>
            <a:ext cx="5974080" cy="0"/>
          </a:xfrm>
          <a:prstGeom prst="line">
            <a:avLst/>
          </a:prstGeom>
          <a:noFill/>
          <a:ln w="6350">
            <a:solidFill>
              <a:srgbClr val="D9CFBC"/>
            </a:solidFill>
            <a:prstDash val="solid"/>
          </a:ln>
        </p:spPr>
      </p:sp>
      <p:sp>
        <p:nvSpPr>
          <p:cNvPr id="11" name="Text 9"/>
          <p:cNvSpPr/>
          <p:nvPr/>
        </p:nvSpPr>
        <p:spPr>
          <a:xfrm>
            <a:off x="5405120" y="3395982"/>
            <a:ext cx="20232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2</a:t>
            </a:r>
            <a:endParaRPr lang="en-US" sz="2800" dirty="0"/>
          </a:p>
        </p:txBody>
      </p:sp>
      <p:sp>
        <p:nvSpPr>
          <p:cNvPr id="12" name="Text 10"/>
          <p:cNvSpPr/>
          <p:nvPr/>
        </p:nvSpPr>
        <p:spPr>
          <a:xfrm>
            <a:off x="5734447" y="3487421"/>
            <a:ext cx="5814096"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The uniform is the standard,</a:t>
            </a:r>
            <a:r>
              <a:rPr lang="en-US" sz="1600" dirty="0">
                <a:solidFill>
                  <a:srgbClr val="0B1729"/>
                </a:solidFill>
                <a:latin typeface="Arial" pitchFamily="34" charset="0"/>
                <a:ea typeface="Arial" pitchFamily="34" charset="-122"/>
                <a:cs typeface="Arial" pitchFamily="34" charset="-120"/>
              </a:rPr>
              <a:t> not a preference. Full uniform, at your post, at your start time.</a:t>
            </a:r>
            <a:endParaRPr lang="en-US" sz="1600" dirty="0"/>
          </a:p>
        </p:txBody>
      </p:sp>
      <p:sp>
        <p:nvSpPr>
          <p:cNvPr id="13" name="Shape 11"/>
          <p:cNvSpPr/>
          <p:nvPr/>
        </p:nvSpPr>
        <p:spPr>
          <a:xfrm>
            <a:off x="5405120" y="4178936"/>
            <a:ext cx="5974080" cy="0"/>
          </a:xfrm>
          <a:prstGeom prst="line">
            <a:avLst/>
          </a:prstGeom>
          <a:noFill/>
          <a:ln w="6350">
            <a:solidFill>
              <a:srgbClr val="D9CFBC"/>
            </a:solidFill>
            <a:prstDash val="solid"/>
          </a:ln>
        </p:spPr>
      </p:sp>
      <p:sp>
        <p:nvSpPr>
          <p:cNvPr id="14" name="Shape 12"/>
          <p:cNvSpPr/>
          <p:nvPr/>
        </p:nvSpPr>
        <p:spPr>
          <a:xfrm>
            <a:off x="5405120" y="4827906"/>
            <a:ext cx="5974080" cy="0"/>
          </a:xfrm>
          <a:prstGeom prst="line">
            <a:avLst/>
          </a:prstGeom>
          <a:noFill/>
          <a:ln w="6350">
            <a:solidFill>
              <a:srgbClr val="D9CFBC"/>
            </a:solidFill>
            <a:prstDash val="solid"/>
          </a:ln>
        </p:spPr>
      </p:sp>
      <p:sp>
        <p:nvSpPr>
          <p:cNvPr id="15" name="Text 13"/>
          <p:cNvSpPr/>
          <p:nvPr/>
        </p:nvSpPr>
        <p:spPr>
          <a:xfrm>
            <a:off x="5405120" y="4320539"/>
            <a:ext cx="27289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3</a:t>
            </a:r>
            <a:endParaRPr lang="en-US" sz="2800" dirty="0"/>
          </a:p>
        </p:txBody>
      </p:sp>
      <p:sp>
        <p:nvSpPr>
          <p:cNvPr id="16" name="Text 14"/>
          <p:cNvSpPr/>
          <p:nvPr/>
        </p:nvSpPr>
        <p:spPr>
          <a:xfrm>
            <a:off x="5805011" y="4411982"/>
            <a:ext cx="4765548"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Friendly is required. Familiar is a liability.</a:t>
            </a:r>
            <a:endParaRPr lang="en-US" sz="16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Module 1 check-in · Packet: Module 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1717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MODULE 1 · THE TEST</a:t>
            </a:r>
            <a:endParaRPr lang="en-US" sz="1200" dirty="0"/>
          </a:p>
        </p:txBody>
      </p:sp>
      <p:sp>
        <p:nvSpPr>
          <p:cNvPr id="3" name="Text 1"/>
          <p:cNvSpPr/>
          <p:nvPr>
            <p:ph type="title"/>
          </p:nvPr>
        </p:nvSpPr>
        <p:spPr>
          <a:xfrm>
            <a:off x="812800" y="2286000"/>
            <a:ext cx="10464800" cy="2204720"/>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F3ECDD"/>
                </a:solidFill>
                <a:latin typeface="Georgia" pitchFamily="18" charset="0"/>
                <a:ea typeface="Georgia" pitchFamily="18" charset="-122"/>
                <a:cs typeface="Georgia" pitchFamily="18" charset="-120"/>
              </a:rPr>
              <a:t>"Would I behave the same way with every resident, or </a:t>
            </a:r>
            <a:r>
              <a:rPr lang="en-US" sz="5200" b="1" i="1" dirty="0">
                <a:solidFill>
                  <a:srgbClr val="C9A84C"/>
                </a:solidFill>
                <a:latin typeface="Georgia" pitchFamily="18" charset="0"/>
                <a:ea typeface="Georgia" pitchFamily="18" charset="-122"/>
                <a:cs typeface="Georgia" pitchFamily="18" charset="-120"/>
              </a:rPr>
              <a:t>only this one?</a:t>
            </a:r>
            <a:r>
              <a:rPr lang="en-US" sz="5200" b="1" i="0" dirty="0">
                <a:solidFill>
                  <a:srgbClr val="F3ECDD"/>
                </a:solidFill>
                <a:latin typeface="Georgia" pitchFamily="18" charset="0"/>
                <a:ea typeface="Georgia" pitchFamily="18" charset="-122"/>
                <a:cs typeface="Georgia" pitchFamily="18" charset="-120"/>
              </a:rPr>
              <a:t>"</a:t>
            </a:r>
            <a:endParaRPr lang="en-US" sz="5200" dirty="0"/>
          </a:p>
        </p:txBody>
      </p:sp>
      <p:sp>
        <p:nvSpPr>
          <p:cNvPr id="4" name="Text 2"/>
          <p:cNvSpPr/>
          <p:nvPr/>
        </p:nvSpPr>
        <p:spPr>
          <a:xfrm>
            <a:off x="812800" y="4820921"/>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EB6A6"/>
                </a:solidFill>
                <a:latin typeface="Arial" pitchFamily="34" charset="0"/>
                <a:ea typeface="Arial" pitchFamily="34" charset="-122"/>
                <a:cs typeface="Arial" pitchFamily="34" charset="-120"/>
              </a:rPr>
              <a:t>Friendly is consistent. Familiar is selective.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MODULE 2 · 45 MINUTES · SELF-GUIDED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Policies &amp; accountability</a:t>
            </a:r>
            <a:endParaRPr lang="en-US" sz="3600" dirty="0"/>
          </a:p>
        </p:txBody>
      </p:sp>
      <p:sp>
        <p:nvSpPr>
          <p:cNvPr id="4" name="Text 2"/>
          <p:cNvSpPr/>
          <p:nvPr/>
        </p:nvSpPr>
        <p:spPr>
          <a:xfrm>
            <a:off x="812800" y="1986279"/>
            <a:ext cx="41022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A5F6C"/>
                </a:solidFill>
                <a:latin typeface="Arial" pitchFamily="34" charset="0"/>
                <a:ea typeface="Arial" pitchFamily="34" charset="-122"/>
                <a:cs typeface="Arial" pitchFamily="34" charset="-120"/>
              </a:rPr>
              <a:t>IN YOUR PACKET</a:t>
            </a:r>
            <a:endParaRPr lang="en-US" sz="1200" dirty="0"/>
          </a:p>
        </p:txBody>
      </p:sp>
      <p:sp>
        <p:nvSpPr>
          <p:cNvPr id="5" name="Text 3"/>
          <p:cNvSpPr/>
          <p:nvPr/>
        </p:nvSpPr>
        <p:spPr>
          <a:xfrm>
            <a:off x="910082" y="2326642"/>
            <a:ext cx="3997300" cy="167894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Who you report to vs. support</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Attendance &amp; call-out</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Shift swap steps</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Devices, boundaries, privacy</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Sign the acknowledgment</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Checkpoint 2</a:t>
            </a:r>
            <a:endParaRPr lang="en-US" sz="1400" dirty="0"/>
          </a:p>
        </p:txBody>
      </p:sp>
      <p:sp>
        <p:nvSpPr>
          <p:cNvPr id="6" name="Text 4"/>
          <p:cNvSpPr/>
          <p:nvPr/>
        </p:nvSpPr>
        <p:spPr>
          <a:xfrm>
            <a:off x="5405120" y="1986279"/>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A5F6C"/>
                </a:solidFill>
                <a:latin typeface="Arial" pitchFamily="34" charset="0"/>
                <a:ea typeface="Arial" pitchFamily="34" charset="-122"/>
                <a:cs typeface="Arial" pitchFamily="34" charset="-120"/>
              </a:rPr>
              <a:t>WHAT MATTERS MOST</a:t>
            </a:r>
            <a:endParaRPr lang="en-US" sz="1200" dirty="0"/>
          </a:p>
        </p:txBody>
      </p:sp>
      <p:sp>
        <p:nvSpPr>
          <p:cNvPr id="7" name="Shape 5"/>
          <p:cNvSpPr/>
          <p:nvPr/>
        </p:nvSpPr>
        <p:spPr>
          <a:xfrm>
            <a:off x="5405120" y="2329817"/>
            <a:ext cx="5974080" cy="0"/>
          </a:xfrm>
          <a:prstGeom prst="line">
            <a:avLst/>
          </a:prstGeom>
          <a:noFill/>
          <a:ln w="6350">
            <a:solidFill>
              <a:srgbClr val="D9CFBC"/>
            </a:solidFill>
            <a:prstDash val="solid"/>
          </a:ln>
        </p:spPr>
      </p:sp>
      <p:sp>
        <p:nvSpPr>
          <p:cNvPr id="8" name="Text 6"/>
          <p:cNvSpPr/>
          <p:nvPr/>
        </p:nvSpPr>
        <p:spPr>
          <a:xfrm>
            <a:off x="5405120" y="2471421"/>
            <a:ext cx="18081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1</a:t>
            </a:r>
            <a:endParaRPr lang="en-US" sz="2800" dirty="0"/>
          </a:p>
        </p:txBody>
      </p:sp>
      <p:sp>
        <p:nvSpPr>
          <p:cNvPr id="9" name="Text 7"/>
          <p:cNvSpPr/>
          <p:nvPr/>
        </p:nvSpPr>
        <p:spPr>
          <a:xfrm>
            <a:off x="5712936" y="2562864"/>
            <a:ext cx="5836252"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Call AND text</a:t>
            </a:r>
            <a:r>
              <a:rPr lang="en-US" sz="1600" dirty="0">
                <a:solidFill>
                  <a:srgbClr val="0B1729"/>
                </a:solidFill>
                <a:latin typeface="Arial" pitchFamily="34" charset="0"/>
                <a:ea typeface="Arial" pitchFamily="34" charset="-122"/>
                <a:cs typeface="Arial" pitchFamily="34" charset="-120"/>
              </a:rPr>
              <a:t> at least 2 hours before your shift. One without the other is unexcused.</a:t>
            </a:r>
            <a:endParaRPr lang="en-US" sz="1600" dirty="0"/>
          </a:p>
        </p:txBody>
      </p:sp>
      <p:sp>
        <p:nvSpPr>
          <p:cNvPr id="10" name="Shape 8"/>
          <p:cNvSpPr/>
          <p:nvPr/>
        </p:nvSpPr>
        <p:spPr>
          <a:xfrm>
            <a:off x="5405120" y="3254375"/>
            <a:ext cx="5974080" cy="0"/>
          </a:xfrm>
          <a:prstGeom prst="line">
            <a:avLst/>
          </a:prstGeom>
          <a:noFill/>
          <a:ln w="6350">
            <a:solidFill>
              <a:srgbClr val="D9CFBC"/>
            </a:solidFill>
            <a:prstDash val="solid"/>
          </a:ln>
        </p:spPr>
      </p:sp>
      <p:sp>
        <p:nvSpPr>
          <p:cNvPr id="11" name="Text 9"/>
          <p:cNvSpPr/>
          <p:nvPr/>
        </p:nvSpPr>
        <p:spPr>
          <a:xfrm>
            <a:off x="5405120" y="3395979"/>
            <a:ext cx="26804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2</a:t>
            </a:r>
            <a:endParaRPr lang="en-US" sz="2800" dirty="0"/>
          </a:p>
        </p:txBody>
      </p:sp>
      <p:sp>
        <p:nvSpPr>
          <p:cNvPr id="12" name="Text 10"/>
          <p:cNvSpPr/>
          <p:nvPr/>
        </p:nvSpPr>
        <p:spPr>
          <a:xfrm>
            <a:off x="5800170" y="3487421"/>
            <a:ext cx="5746402"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A swap isn't real</a:t>
            </a:r>
            <a:r>
              <a:rPr lang="en-US" sz="1600" dirty="0">
                <a:solidFill>
                  <a:srgbClr val="0B1729"/>
                </a:solidFill>
                <a:latin typeface="Arial" pitchFamily="34" charset="0"/>
                <a:ea typeface="Arial" pitchFamily="34" charset="-122"/>
                <a:cs typeface="Arial" pitchFamily="34" charset="-120"/>
              </a:rPr>
              <a:t> until management confirms it in Connecteam.</a:t>
            </a:r>
            <a:endParaRPr lang="en-US" sz="1600" dirty="0"/>
          </a:p>
        </p:txBody>
      </p:sp>
      <p:sp>
        <p:nvSpPr>
          <p:cNvPr id="13" name="Shape 11"/>
          <p:cNvSpPr/>
          <p:nvPr/>
        </p:nvSpPr>
        <p:spPr>
          <a:xfrm>
            <a:off x="5405120" y="4178939"/>
            <a:ext cx="5974080" cy="0"/>
          </a:xfrm>
          <a:prstGeom prst="line">
            <a:avLst/>
          </a:prstGeom>
          <a:noFill/>
          <a:ln w="6350">
            <a:solidFill>
              <a:srgbClr val="D9CFBC"/>
            </a:solidFill>
            <a:prstDash val="solid"/>
          </a:ln>
        </p:spPr>
      </p:sp>
      <p:sp>
        <p:nvSpPr>
          <p:cNvPr id="14" name="Shape 12"/>
          <p:cNvSpPr/>
          <p:nvPr/>
        </p:nvSpPr>
        <p:spPr>
          <a:xfrm>
            <a:off x="5405120" y="5102229"/>
            <a:ext cx="5974080" cy="0"/>
          </a:xfrm>
          <a:prstGeom prst="line">
            <a:avLst/>
          </a:prstGeom>
          <a:noFill/>
          <a:ln w="6350">
            <a:solidFill>
              <a:srgbClr val="D9CFBC"/>
            </a:solidFill>
            <a:prstDash val="solid"/>
          </a:ln>
        </p:spPr>
      </p:sp>
      <p:sp>
        <p:nvSpPr>
          <p:cNvPr id="15" name="Text 13"/>
          <p:cNvSpPr/>
          <p:nvPr/>
        </p:nvSpPr>
        <p:spPr>
          <a:xfrm>
            <a:off x="5405120" y="4320542"/>
            <a:ext cx="25828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3</a:t>
            </a:r>
            <a:endParaRPr lang="en-US" sz="2800" dirty="0"/>
          </a:p>
        </p:txBody>
      </p:sp>
      <p:sp>
        <p:nvSpPr>
          <p:cNvPr id="16" name="Text 14"/>
          <p:cNvSpPr/>
          <p:nvPr/>
        </p:nvSpPr>
        <p:spPr>
          <a:xfrm>
            <a:off x="5790406" y="4411979"/>
            <a:ext cx="5756458"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"They said it was approved"</a:t>
            </a:r>
            <a:r>
              <a:rPr lang="en-US" sz="1600" dirty="0">
                <a:solidFill>
                  <a:srgbClr val="0B1729"/>
                </a:solidFill>
                <a:latin typeface="Arial" pitchFamily="34" charset="0"/>
                <a:ea typeface="Arial" pitchFamily="34" charset="-122"/>
                <a:cs typeface="Arial" pitchFamily="34" charset="-120"/>
              </a:rPr>
              <a:t> is not authorization. Verify, then log.</a:t>
            </a:r>
            <a:endParaRPr lang="en-US" sz="16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Module 2 check-in · Packet: Module 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20243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MODULE 2 · WHY POLICY</a:t>
            </a:r>
            <a:endParaRPr lang="en-US" sz="1200" dirty="0"/>
          </a:p>
        </p:txBody>
      </p:sp>
      <p:sp>
        <p:nvSpPr>
          <p:cNvPr id="3" name="Text 1"/>
          <p:cNvSpPr/>
          <p:nvPr>
            <p:ph type="title"/>
          </p:nvPr>
        </p:nvSpPr>
        <p:spPr>
          <a:xfrm>
            <a:off x="812800" y="2593342"/>
            <a:ext cx="10464800" cy="1590040"/>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3ECDD"/>
                </a:solidFill>
                <a:latin typeface="Georgia" pitchFamily="18" charset="0"/>
                <a:ea typeface="Georgia" pitchFamily="18" charset="-122"/>
                <a:cs typeface="Georgia" pitchFamily="18" charset="-120"/>
              </a:rPr>
              <a:t>Policies don't restrict you. </a:t>
            </a:r>
            <a:r>
              <a:rPr lang="en-US" sz="5600" b="1" i="1" dirty="0">
                <a:solidFill>
                  <a:srgbClr val="C9A84C"/>
                </a:solidFill>
                <a:latin typeface="Georgia" pitchFamily="18" charset="0"/>
                <a:ea typeface="Georgia" pitchFamily="18" charset="-122"/>
                <a:cs typeface="Georgia" pitchFamily="18" charset="-120"/>
              </a:rPr>
              <a:t>They create clarity.</a:t>
            </a:r>
            <a:endParaRPr lang="en-US" sz="5600" dirty="0"/>
          </a:p>
        </p:txBody>
      </p:sp>
      <p:sp>
        <p:nvSpPr>
          <p:cNvPr id="4" name="Text 2"/>
          <p:cNvSpPr/>
          <p:nvPr/>
        </p:nvSpPr>
        <p:spPr>
          <a:xfrm>
            <a:off x="812800" y="4513579"/>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EB6A6"/>
                </a:solidFill>
                <a:latin typeface="Arial" pitchFamily="34" charset="0"/>
                <a:ea typeface="Arial" pitchFamily="34" charset="-122"/>
                <a:cs typeface="Arial" pitchFamily="34" charset="-120"/>
              </a:rPr>
              <a:t>And clarity protects everyone: you, the residents, and Apex.</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MODULE 3 · 60 MINUTES · SELF-GUIDED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Desk operations &amp; the shift log</a:t>
            </a:r>
            <a:endParaRPr lang="en-US" sz="3600" dirty="0"/>
          </a:p>
        </p:txBody>
      </p:sp>
      <p:sp>
        <p:nvSpPr>
          <p:cNvPr id="4" name="Text 2"/>
          <p:cNvSpPr/>
          <p:nvPr/>
        </p:nvSpPr>
        <p:spPr>
          <a:xfrm>
            <a:off x="812800" y="1986279"/>
            <a:ext cx="41022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A5F6C"/>
                </a:solidFill>
                <a:latin typeface="Arial" pitchFamily="34" charset="0"/>
                <a:ea typeface="Arial" pitchFamily="34" charset="-122"/>
                <a:cs typeface="Arial" pitchFamily="34" charset="-120"/>
              </a:rPr>
              <a:t>IN YOUR PACKET</a:t>
            </a:r>
            <a:endParaRPr lang="en-US" sz="1200" dirty="0"/>
          </a:p>
        </p:txBody>
      </p:sp>
      <p:sp>
        <p:nvSpPr>
          <p:cNvPr id="5" name="Text 3"/>
          <p:cNvSpPr/>
          <p:nvPr/>
        </p:nvSpPr>
        <p:spPr>
          <a:xfrm>
            <a:off x="910082" y="2326642"/>
            <a:ext cx="3997300" cy="167894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How a shift starts</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The desk is a post</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Site tours</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The E.D.O. method</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Write 3 practice entries</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Checkpoint 3</a:t>
            </a:r>
            <a:endParaRPr lang="en-US" sz="1400" dirty="0"/>
          </a:p>
        </p:txBody>
      </p:sp>
      <p:sp>
        <p:nvSpPr>
          <p:cNvPr id="6" name="Text 4"/>
          <p:cNvSpPr/>
          <p:nvPr/>
        </p:nvSpPr>
        <p:spPr>
          <a:xfrm>
            <a:off x="5405120" y="1986279"/>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A5F6C"/>
                </a:solidFill>
                <a:latin typeface="Arial" pitchFamily="34" charset="0"/>
                <a:ea typeface="Arial" pitchFamily="34" charset="-122"/>
                <a:cs typeface="Arial" pitchFamily="34" charset="-120"/>
              </a:rPr>
              <a:t>WHAT MATTERS MOST</a:t>
            </a:r>
            <a:endParaRPr lang="en-US" sz="1200" dirty="0"/>
          </a:p>
        </p:txBody>
      </p:sp>
      <p:sp>
        <p:nvSpPr>
          <p:cNvPr id="7" name="Shape 5"/>
          <p:cNvSpPr/>
          <p:nvPr/>
        </p:nvSpPr>
        <p:spPr>
          <a:xfrm>
            <a:off x="5405120" y="2329817"/>
            <a:ext cx="5974080" cy="0"/>
          </a:xfrm>
          <a:prstGeom prst="line">
            <a:avLst/>
          </a:prstGeom>
          <a:noFill/>
          <a:ln w="6350">
            <a:solidFill>
              <a:srgbClr val="D9CFBC"/>
            </a:solidFill>
            <a:prstDash val="solid"/>
          </a:ln>
        </p:spPr>
      </p:sp>
      <p:sp>
        <p:nvSpPr>
          <p:cNvPr id="8" name="Text 6"/>
          <p:cNvSpPr/>
          <p:nvPr/>
        </p:nvSpPr>
        <p:spPr>
          <a:xfrm>
            <a:off x="5405120" y="2471421"/>
            <a:ext cx="19470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1</a:t>
            </a:r>
            <a:endParaRPr lang="en-US" sz="2800" dirty="0"/>
          </a:p>
        </p:txBody>
      </p:sp>
      <p:sp>
        <p:nvSpPr>
          <p:cNvPr id="9" name="Text 7"/>
          <p:cNvSpPr/>
          <p:nvPr/>
        </p:nvSpPr>
        <p:spPr>
          <a:xfrm>
            <a:off x="5726827" y="2562864"/>
            <a:ext cx="5821944"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The desk is never unattended.</a:t>
            </a:r>
            <a:r>
              <a:rPr lang="en-US" sz="1600" dirty="0">
                <a:solidFill>
                  <a:srgbClr val="0B1729"/>
                </a:solidFill>
                <a:latin typeface="Arial" pitchFamily="34" charset="0"/>
                <a:ea typeface="Arial" pitchFamily="34" charset="-122"/>
                <a:cs typeface="Arial" pitchFamily="34" charset="-120"/>
              </a:rPr>
              <a:t> No relief, you stay and call your supervisor.</a:t>
            </a:r>
            <a:endParaRPr lang="en-US" sz="1600" dirty="0"/>
          </a:p>
        </p:txBody>
      </p:sp>
      <p:sp>
        <p:nvSpPr>
          <p:cNvPr id="10" name="Shape 8"/>
          <p:cNvSpPr/>
          <p:nvPr/>
        </p:nvSpPr>
        <p:spPr>
          <a:xfrm>
            <a:off x="5405120" y="3254375"/>
            <a:ext cx="5974080" cy="0"/>
          </a:xfrm>
          <a:prstGeom prst="line">
            <a:avLst/>
          </a:prstGeom>
          <a:noFill/>
          <a:ln w="6350">
            <a:solidFill>
              <a:srgbClr val="D9CFBC"/>
            </a:solidFill>
            <a:prstDash val="solid"/>
          </a:ln>
        </p:spPr>
      </p:sp>
      <p:sp>
        <p:nvSpPr>
          <p:cNvPr id="11" name="Text 9"/>
          <p:cNvSpPr/>
          <p:nvPr/>
        </p:nvSpPr>
        <p:spPr>
          <a:xfrm>
            <a:off x="5405120" y="3395979"/>
            <a:ext cx="24804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2</a:t>
            </a:r>
            <a:endParaRPr lang="en-US" sz="2800" dirty="0"/>
          </a:p>
        </p:txBody>
      </p:sp>
      <p:sp>
        <p:nvSpPr>
          <p:cNvPr id="12" name="Text 10"/>
          <p:cNvSpPr/>
          <p:nvPr/>
        </p:nvSpPr>
        <p:spPr>
          <a:xfrm>
            <a:off x="5780167" y="3487421"/>
            <a:ext cx="5767004"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1 · 2 · 3.</a:t>
            </a:r>
            <a:r>
              <a:rPr lang="en-US" sz="1600" dirty="0">
                <a:solidFill>
                  <a:srgbClr val="0B1729"/>
                </a:solidFill>
                <a:latin typeface="Arial" pitchFamily="34" charset="0"/>
                <a:ea typeface="Arial" pitchFamily="34" charset="-122"/>
                <a:cs typeface="Arial" pitchFamily="34" charset="-120"/>
              </a:rPr>
              <a:t> One entry per hour, two logged tours, three pass-on sections.</a:t>
            </a:r>
            <a:endParaRPr lang="en-US" sz="1600" dirty="0"/>
          </a:p>
        </p:txBody>
      </p:sp>
      <p:sp>
        <p:nvSpPr>
          <p:cNvPr id="13" name="Shape 11"/>
          <p:cNvSpPr/>
          <p:nvPr/>
        </p:nvSpPr>
        <p:spPr>
          <a:xfrm>
            <a:off x="5405120" y="4178939"/>
            <a:ext cx="5974080" cy="0"/>
          </a:xfrm>
          <a:prstGeom prst="line">
            <a:avLst/>
          </a:prstGeom>
          <a:noFill/>
          <a:ln w="6350">
            <a:solidFill>
              <a:srgbClr val="D9CFBC"/>
            </a:solidFill>
            <a:prstDash val="solid"/>
          </a:ln>
        </p:spPr>
      </p:sp>
      <p:sp>
        <p:nvSpPr>
          <p:cNvPr id="14" name="Shape 12"/>
          <p:cNvSpPr/>
          <p:nvPr/>
        </p:nvSpPr>
        <p:spPr>
          <a:xfrm>
            <a:off x="5405120" y="5102229"/>
            <a:ext cx="5974080" cy="0"/>
          </a:xfrm>
          <a:prstGeom prst="line">
            <a:avLst/>
          </a:prstGeom>
          <a:noFill/>
          <a:ln w="6350">
            <a:solidFill>
              <a:srgbClr val="D9CFBC"/>
            </a:solidFill>
            <a:prstDash val="solid"/>
          </a:ln>
        </p:spPr>
      </p:sp>
      <p:sp>
        <p:nvSpPr>
          <p:cNvPr id="15" name="Text 13"/>
          <p:cNvSpPr/>
          <p:nvPr/>
        </p:nvSpPr>
        <p:spPr>
          <a:xfrm>
            <a:off x="5405120" y="4320542"/>
            <a:ext cx="21764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3</a:t>
            </a:r>
            <a:endParaRPr lang="en-US" sz="2800" dirty="0"/>
          </a:p>
        </p:txBody>
      </p:sp>
      <p:sp>
        <p:nvSpPr>
          <p:cNvPr id="16" name="Text 14"/>
          <p:cNvSpPr/>
          <p:nvPr/>
        </p:nvSpPr>
        <p:spPr>
          <a:xfrm>
            <a:off x="5749766" y="4411979"/>
            <a:ext cx="5798317"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Every entry needs an Outcome:</a:t>
            </a:r>
            <a:r>
              <a:rPr lang="en-US" sz="1600" dirty="0">
                <a:solidFill>
                  <a:srgbClr val="0B1729"/>
                </a:solidFill>
                <a:latin typeface="Arial" pitchFamily="34" charset="0"/>
                <a:ea typeface="Arial" pitchFamily="34" charset="-122"/>
                <a:cs typeface="Arial" pitchFamily="34" charset="-120"/>
              </a:rPr>
              <a:t> what you did, who you told, and what's still open.</a:t>
            </a:r>
            <a:endParaRPr lang="en-US" sz="16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Module 3 check-in · Packet: Module 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2006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MODULE 3 · THE RULE</a:t>
            </a:r>
            <a:endParaRPr lang="en-US" sz="1200" dirty="0"/>
          </a:p>
        </p:txBody>
      </p:sp>
      <p:sp>
        <p:nvSpPr>
          <p:cNvPr id="3" name="Text 1"/>
          <p:cNvSpPr/>
          <p:nvPr>
            <p:ph type="title"/>
          </p:nvPr>
        </p:nvSpPr>
        <p:spPr>
          <a:xfrm>
            <a:off x="812800" y="2575564"/>
            <a:ext cx="1046480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ECDD"/>
                </a:solidFill>
                <a:latin typeface="Georgia" pitchFamily="18" charset="0"/>
                <a:ea typeface="Georgia" pitchFamily="18" charset="-122"/>
                <a:cs typeface="Georgia" pitchFamily="18" charset="-120"/>
              </a:rPr>
              <a:t>An undocumented event </a:t>
            </a:r>
            <a:r>
              <a:rPr lang="en-US" sz="6000" b="1" i="1" dirty="0">
                <a:solidFill>
                  <a:srgbClr val="C9A84C"/>
                </a:solidFill>
                <a:latin typeface="Georgia" pitchFamily="18" charset="0"/>
                <a:ea typeface="Georgia" pitchFamily="18" charset="-122"/>
                <a:cs typeface="Georgia" pitchFamily="18" charset="-120"/>
              </a:rPr>
              <a:t>did not happen.</a:t>
            </a:r>
            <a:endParaRPr lang="en-US" sz="6000" dirty="0"/>
          </a:p>
        </p:txBody>
      </p:sp>
      <p:sp>
        <p:nvSpPr>
          <p:cNvPr id="4" name="Text 2"/>
          <p:cNvSpPr/>
          <p:nvPr/>
        </p:nvSpPr>
        <p:spPr>
          <a:xfrm>
            <a:off x="812800" y="4531364"/>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EB6A6"/>
                </a:solidFill>
                <a:latin typeface="Arial" pitchFamily="34" charset="0"/>
                <a:ea typeface="Arial" pitchFamily="34" charset="-122"/>
                <a:cs typeface="Arial" pitchFamily="34" charset="-120"/>
              </a:rPr>
              <a:t>Operationally and legally. Your shift log is your witness.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MODULE 4 · 60 MINUTES · SELF-GUIDED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Packages, incidents &amp; emergencies</a:t>
            </a:r>
            <a:endParaRPr lang="en-US" sz="3600" dirty="0"/>
          </a:p>
        </p:txBody>
      </p:sp>
      <p:sp>
        <p:nvSpPr>
          <p:cNvPr id="4" name="Text 2"/>
          <p:cNvSpPr/>
          <p:nvPr/>
        </p:nvSpPr>
        <p:spPr>
          <a:xfrm>
            <a:off x="812800" y="1986279"/>
            <a:ext cx="41022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A5F6C"/>
                </a:solidFill>
                <a:latin typeface="Arial" pitchFamily="34" charset="0"/>
                <a:ea typeface="Arial" pitchFamily="34" charset="-122"/>
                <a:cs typeface="Arial" pitchFamily="34" charset="-120"/>
              </a:rPr>
              <a:t>IN YOUR PACKET</a:t>
            </a:r>
            <a:endParaRPr lang="en-US" sz="1200" dirty="0"/>
          </a:p>
        </p:txBody>
      </p:sp>
      <p:sp>
        <p:nvSpPr>
          <p:cNvPr id="5" name="Text 3"/>
          <p:cNvSpPr/>
          <p:nvPr/>
        </p:nvSpPr>
        <p:spPr>
          <a:xfrm>
            <a:off x="910082" y="2326642"/>
            <a:ext cx="3997300" cy="167894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Four intake steps</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Five package categories</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Release and never-do list</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Incident reports</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Fire, medical, security</a:t>
            </a:r>
            <a:endParaRPr lang="en-US" sz="1400" dirty="0"/>
          </a:p>
          <a:p>
            <a:pPr algn="l" marL="156718" indent="-156718">
              <a:lnSpc>
                <a:spcPts val="2170"/>
              </a:lnSpc>
              <a:buSzPct val="100000"/>
              <a:buChar char="•"/>
            </a:pPr>
            <a:r>
              <a:rPr lang="en-US" sz="1400" dirty="0">
                <a:solidFill>
                  <a:srgbClr val="3E4454"/>
                </a:solidFill>
                <a:latin typeface="Arial" pitchFamily="34" charset="0"/>
                <a:ea typeface="Arial" pitchFamily="34" charset="-122"/>
                <a:cs typeface="Arial" pitchFamily="34" charset="-120"/>
              </a:rPr>
              <a:t>Checkpoint 4</a:t>
            </a:r>
            <a:endParaRPr lang="en-US" sz="1400" dirty="0"/>
          </a:p>
        </p:txBody>
      </p:sp>
      <p:sp>
        <p:nvSpPr>
          <p:cNvPr id="6" name="Text 4"/>
          <p:cNvSpPr/>
          <p:nvPr/>
        </p:nvSpPr>
        <p:spPr>
          <a:xfrm>
            <a:off x="5405120" y="1986279"/>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A5F6C"/>
                </a:solidFill>
                <a:latin typeface="Arial" pitchFamily="34" charset="0"/>
                <a:ea typeface="Arial" pitchFamily="34" charset="-122"/>
                <a:cs typeface="Arial" pitchFamily="34" charset="-120"/>
              </a:rPr>
              <a:t>WHAT MATTERS MOST</a:t>
            </a:r>
            <a:endParaRPr lang="en-US" sz="1200" dirty="0"/>
          </a:p>
        </p:txBody>
      </p:sp>
      <p:sp>
        <p:nvSpPr>
          <p:cNvPr id="7" name="Shape 5"/>
          <p:cNvSpPr/>
          <p:nvPr/>
        </p:nvSpPr>
        <p:spPr>
          <a:xfrm>
            <a:off x="5405120" y="2329817"/>
            <a:ext cx="5974080" cy="0"/>
          </a:xfrm>
          <a:prstGeom prst="line">
            <a:avLst/>
          </a:prstGeom>
          <a:noFill/>
          <a:ln w="6350">
            <a:solidFill>
              <a:srgbClr val="D9CFBC"/>
            </a:solidFill>
            <a:prstDash val="solid"/>
          </a:ln>
        </p:spPr>
      </p:sp>
      <p:sp>
        <p:nvSpPr>
          <p:cNvPr id="8" name="Text 6"/>
          <p:cNvSpPr/>
          <p:nvPr/>
        </p:nvSpPr>
        <p:spPr>
          <a:xfrm>
            <a:off x="5405120" y="2471421"/>
            <a:ext cx="19169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1</a:t>
            </a:r>
            <a:endParaRPr lang="en-US" sz="2800" dirty="0"/>
          </a:p>
        </p:txBody>
      </p:sp>
      <p:sp>
        <p:nvSpPr>
          <p:cNvPr id="9" name="Text 7"/>
          <p:cNvSpPr/>
          <p:nvPr/>
        </p:nvSpPr>
        <p:spPr>
          <a:xfrm>
            <a:off x="5723811" y="2562864"/>
            <a:ext cx="5825051"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Food: call, 24 hours.</a:t>
            </a:r>
            <a:r>
              <a:rPr lang="en-US" sz="1600" dirty="0">
                <a:solidFill>
                  <a:srgbClr val="0B1729"/>
                </a:solidFill>
                <a:latin typeface="Arial" pitchFamily="34" charset="0"/>
                <a:ea typeface="Arial" pitchFamily="34" charset="-122"/>
                <a:cs typeface="Arial" pitchFamily="34" charset="-120"/>
              </a:rPr>
              <a:t> Groceries: daily outreach, 48 hours. Don't mix them up.</a:t>
            </a:r>
            <a:endParaRPr lang="en-US" sz="1600" dirty="0"/>
          </a:p>
        </p:txBody>
      </p:sp>
      <p:sp>
        <p:nvSpPr>
          <p:cNvPr id="10" name="Shape 8"/>
          <p:cNvSpPr/>
          <p:nvPr/>
        </p:nvSpPr>
        <p:spPr>
          <a:xfrm>
            <a:off x="5405120" y="3254375"/>
            <a:ext cx="5974080" cy="0"/>
          </a:xfrm>
          <a:prstGeom prst="line">
            <a:avLst/>
          </a:prstGeom>
          <a:noFill/>
          <a:ln w="6350">
            <a:solidFill>
              <a:srgbClr val="D9CFBC"/>
            </a:solidFill>
            <a:prstDash val="solid"/>
          </a:ln>
        </p:spPr>
      </p:sp>
      <p:sp>
        <p:nvSpPr>
          <p:cNvPr id="11" name="Text 9"/>
          <p:cNvSpPr/>
          <p:nvPr/>
        </p:nvSpPr>
        <p:spPr>
          <a:xfrm>
            <a:off x="5405120" y="3395979"/>
            <a:ext cx="21113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2</a:t>
            </a:r>
            <a:endParaRPr lang="en-US" sz="2800" dirty="0"/>
          </a:p>
        </p:txBody>
      </p:sp>
      <p:sp>
        <p:nvSpPr>
          <p:cNvPr id="12" name="Text 10"/>
          <p:cNvSpPr/>
          <p:nvPr/>
        </p:nvSpPr>
        <p:spPr>
          <a:xfrm>
            <a:off x="5743258" y="3487421"/>
            <a:ext cx="5805021"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Write what you saw,</a:t>
            </a:r>
            <a:r>
              <a:rPr lang="en-US" sz="1600" dirty="0">
                <a:solidFill>
                  <a:srgbClr val="0B1729"/>
                </a:solidFill>
                <a:latin typeface="Arial" pitchFamily="34" charset="0"/>
                <a:ea typeface="Arial" pitchFamily="34" charset="-122"/>
                <a:cs typeface="Arial" pitchFamily="34" charset="-120"/>
              </a:rPr>
              <a:t> not what you concluded. "Resident reported…" vs. "it happened."</a:t>
            </a:r>
            <a:endParaRPr lang="en-US" sz="1600" dirty="0"/>
          </a:p>
        </p:txBody>
      </p:sp>
      <p:sp>
        <p:nvSpPr>
          <p:cNvPr id="13" name="Shape 11"/>
          <p:cNvSpPr/>
          <p:nvPr/>
        </p:nvSpPr>
        <p:spPr>
          <a:xfrm>
            <a:off x="5405120" y="4178939"/>
            <a:ext cx="5974080" cy="0"/>
          </a:xfrm>
          <a:prstGeom prst="line">
            <a:avLst/>
          </a:prstGeom>
          <a:noFill/>
          <a:ln w="6350">
            <a:solidFill>
              <a:srgbClr val="D9CFBC"/>
            </a:solidFill>
            <a:prstDash val="solid"/>
          </a:ln>
        </p:spPr>
      </p:sp>
      <p:sp>
        <p:nvSpPr>
          <p:cNvPr id="14" name="Shape 12"/>
          <p:cNvSpPr/>
          <p:nvPr/>
        </p:nvSpPr>
        <p:spPr>
          <a:xfrm>
            <a:off x="5405120" y="5102229"/>
            <a:ext cx="5974080" cy="0"/>
          </a:xfrm>
          <a:prstGeom prst="line">
            <a:avLst/>
          </a:prstGeom>
          <a:noFill/>
          <a:ln w="6350">
            <a:solidFill>
              <a:srgbClr val="D9CFBC"/>
            </a:solidFill>
            <a:prstDash val="solid"/>
          </a:ln>
        </p:spPr>
      </p:sp>
      <p:sp>
        <p:nvSpPr>
          <p:cNvPr id="15" name="Text 13"/>
          <p:cNvSpPr/>
          <p:nvPr/>
        </p:nvSpPr>
        <p:spPr>
          <a:xfrm>
            <a:off x="5405120" y="4320542"/>
            <a:ext cx="24979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E5F1E"/>
                </a:solidFill>
                <a:latin typeface="Georgia" pitchFamily="18" charset="0"/>
                <a:ea typeface="Georgia" pitchFamily="18" charset="-122"/>
                <a:cs typeface="Georgia" pitchFamily="18" charset="-120"/>
              </a:rPr>
              <a:t>3</a:t>
            </a:r>
            <a:endParaRPr lang="en-US" sz="2800" dirty="0"/>
          </a:p>
        </p:txBody>
      </p:sp>
      <p:sp>
        <p:nvSpPr>
          <p:cNvPr id="16" name="Text 14"/>
          <p:cNvSpPr/>
          <p:nvPr/>
        </p:nvSpPr>
        <p:spPr>
          <a:xfrm>
            <a:off x="5781913" y="4411979"/>
            <a:ext cx="5765206"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B1729"/>
                </a:solidFill>
                <a:latin typeface="Arial" pitchFamily="34" charset="0"/>
                <a:ea typeface="Arial" pitchFamily="34" charset="-122"/>
                <a:cs typeface="Arial" pitchFamily="34" charset="-120"/>
              </a:rPr>
              <a:t>Call first.</a:t>
            </a:r>
            <a:r>
              <a:rPr lang="en-US" sz="1600" dirty="0">
                <a:solidFill>
                  <a:srgbClr val="0B1729"/>
                </a:solidFill>
                <a:latin typeface="Arial" pitchFamily="34" charset="0"/>
                <a:ea typeface="Arial" pitchFamily="34" charset="-122"/>
                <a:cs typeface="Arial" pitchFamily="34" charset="-120"/>
              </a:rPr>
              <a:t> You are not a first responder. When in doubt, file the report.</a:t>
            </a:r>
            <a:endParaRPr lang="en-US" sz="16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Module 4 check-in · Packet: Module 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240665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MODULE 4 · CHAIN OF CUSTODY</a:t>
            </a:r>
            <a:endParaRPr lang="en-US" sz="1200" dirty="0"/>
          </a:p>
        </p:txBody>
      </p:sp>
      <p:sp>
        <p:nvSpPr>
          <p:cNvPr id="3" name="Text 1"/>
          <p:cNvSpPr/>
          <p:nvPr>
            <p:ph type="title"/>
          </p:nvPr>
        </p:nvSpPr>
        <p:spPr>
          <a:xfrm>
            <a:off x="812800" y="2975614"/>
            <a:ext cx="1137920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ECDD"/>
                </a:solidFill>
                <a:latin typeface="Georgia" pitchFamily="18" charset="0"/>
                <a:ea typeface="Georgia" pitchFamily="18" charset="-122"/>
                <a:cs typeface="Georgia" pitchFamily="18" charset="-120"/>
              </a:rPr>
              <a:t>Log it before you </a:t>
            </a:r>
            <a:r>
              <a:rPr lang="en-US" sz="6000" b="1" i="1" dirty="0">
                <a:solidFill>
                  <a:srgbClr val="C9A84C"/>
                </a:solidFill>
                <a:latin typeface="Georgia" pitchFamily="18" charset="0"/>
                <a:ea typeface="Georgia" pitchFamily="18" charset="-122"/>
                <a:cs typeface="Georgia" pitchFamily="18" charset="-120"/>
              </a:rPr>
              <a:t>move it.</a:t>
            </a:r>
            <a:endParaRPr lang="en-US" sz="6000" dirty="0"/>
          </a:p>
        </p:txBody>
      </p:sp>
      <p:sp>
        <p:nvSpPr>
          <p:cNvPr id="4" name="Text 2"/>
          <p:cNvSpPr/>
          <p:nvPr/>
        </p:nvSpPr>
        <p:spPr>
          <a:xfrm>
            <a:off x="812800" y="4131314"/>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EB6A6"/>
                </a:solidFill>
                <a:latin typeface="Arial" pitchFamily="34" charset="0"/>
                <a:ea typeface="Arial" pitchFamily="34" charset="-122"/>
                <a:cs typeface="Arial" pitchFamily="34" charset="-120"/>
              </a:rPr>
              <a:t>Confirm, log, label, notify. Every package, every time.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COACH BLOCK · 90 MINUTES</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Now we practice under pressure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96439"/>
          <a:ext cx="10556240" cy="2461260"/>
        </p:xfrm>
        <a:graphic>
          <a:graphicData uri="http://schemas.openxmlformats.org/drawingml/2006/table">
            <a:tbl>
              <a:tblPr/>
              <a:tblGrid>
                <a:gridCol w="1900123"/>
                <a:gridCol w="2744622"/>
                <a:gridCol w="5911494"/>
              </a:tblGrid>
              <a:tr h="410210">
                <a:tc>
                  <a:txBody>
                    <a:bodyPr/>
                    <a:lstStyle/>
                    <a:p>
                      <a:pPr indent="0" marL="0">
                        <a:lnSpc>
                          <a:spcPts val="2100"/>
                        </a:lnSpc>
                        <a:buNone/>
                      </a:pPr>
                      <a:r>
                        <a:rPr lang="en-US" sz="1500" b="1" dirty="0">
                          <a:solidFill>
                            <a:srgbClr val="0B1729"/>
                          </a:solidFill>
                          <a:latin typeface="Arial" pitchFamily="34" charset="0"/>
                          <a:ea typeface="Arial" pitchFamily="34" charset="-122"/>
                          <a:cs typeface="Arial" pitchFamily="34" charset="-120"/>
                        </a:rPr>
                        <a:t>Minutes</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8"/>
                    </a:solidFill>
                  </a:tcPr>
                </a:tc>
                <a:tc>
                  <a:txBody>
                    <a:bodyPr/>
                    <a:lstStyle/>
                    <a:p>
                      <a:pPr indent="0" marL="0">
                        <a:lnSpc>
                          <a:spcPts val="2100"/>
                        </a:lnSpc>
                        <a:buNone/>
                      </a:pPr>
                      <a:r>
                        <a:rPr lang="en-US" sz="1500" b="1" dirty="0">
                          <a:solidFill>
                            <a:srgbClr val="0B1729"/>
                          </a:solidFill>
                          <a:latin typeface="Arial" pitchFamily="34" charset="0"/>
                          <a:ea typeface="Arial" pitchFamily="34" charset="-122"/>
                          <a:cs typeface="Arial" pitchFamily="34" charset="-120"/>
                        </a:rPr>
                        <a:t>Segment</a:t>
                      </a:r>
                      <a:endParaRPr lang="en-US" sz="1500" dirty="0">
                        <a:latin typeface="Arial" charset="0"/>
                        <a:ea typeface="Arial" charset="0"/>
                        <a:cs typeface="Arial" charset="0"/>
                      </a:endParaRPr>
                    </a:p>
                  </a:txBody>
                  <a:tcPr marL="66675" marR="66675" marT="66675" marB="66675"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8"/>
                    </a:solidFill>
                  </a:tcPr>
                </a:tc>
                <a:tc>
                  <a:txBody>
                    <a:bodyPr/>
                    <a:lstStyle/>
                    <a:p>
                      <a:pPr indent="0" marL="0">
                        <a:lnSpc>
                          <a:spcPts val="2100"/>
                        </a:lnSpc>
                        <a:buNone/>
                      </a:pPr>
                      <a:r>
                        <a:rPr lang="en-US" sz="1500" b="1" dirty="0">
                          <a:solidFill>
                            <a:srgbClr val="0B1729"/>
                          </a:solidFill>
                          <a:latin typeface="Arial" pitchFamily="34" charset="0"/>
                          <a:ea typeface="Arial" pitchFamily="34" charset="-122"/>
                          <a:cs typeface="Arial" pitchFamily="34" charset="-120"/>
                        </a:rPr>
                        <a:t>What happens</a:t>
                      </a:r>
                      <a:endParaRPr lang="en-US" sz="1500" dirty="0">
                        <a:latin typeface="Arial" charset="0"/>
                        <a:ea typeface="Arial" charset="0"/>
                        <a:cs typeface="Arial" charset="0"/>
                      </a:endParaRPr>
                    </a:p>
                  </a:txBody>
                  <a:tcPr marL="66675" marR="66675" marT="66675" marB="66675"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8"/>
                    </a:solidFill>
                  </a:tcPr>
                </a:tc>
              </a:tr>
              <a:tr h="410210">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20</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Entry review</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Your three practice entries vs. the models</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410210">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10</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A.C.T.</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One structure for every high-pressure moment</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410210">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45</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Scenarios</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Five required. You answer first, then we debrief</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410210">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10</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Emergency drill</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Fire, medical, security. No notes</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410210">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5</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Systems match</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2100"/>
                        </a:lnSpc>
                        <a:buNone/>
                      </a:pPr>
                      <a:r>
                        <a:rPr lang="en-US" sz="1500" dirty="0">
                          <a:solidFill>
                            <a:srgbClr val="0B1729"/>
                          </a:solidFill>
                          <a:latin typeface="Arial" pitchFamily="34" charset="0"/>
                          <a:ea typeface="Arial" pitchFamily="34" charset="-122"/>
                          <a:cs typeface="Arial" pitchFamily="34" charset="-120"/>
                        </a:rPr>
                        <a:t>Which system handles which task</a:t>
                      </a:r>
                      <a:endParaRPr lang="en-US" sz="1500" dirty="0">
                        <a:latin typeface="Arial" charset="0"/>
                        <a:ea typeface="Arial" charset="0"/>
                        <a:cs typeface="Arial" charset="0"/>
                      </a:endParaRPr>
                    </a:p>
                  </a:txBody>
                  <a:tcPr marL="66675" marR="66675" marT="66675" marB="66675"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Coach block · Packet: Coach block page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ENTRY REVIEW · EVENT, DETAIL, OUTCOME</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Liability lives in the Outcome</a:t>
            </a:r>
            <a:endParaRPr lang="en-US" sz="3600" dirty="0"/>
          </a:p>
        </p:txBody>
      </p:sp>
      <p:sp>
        <p:nvSpPr>
          <p:cNvPr id="4" name="Shape 2"/>
          <p:cNvSpPr/>
          <p:nvPr/>
        </p:nvSpPr>
        <p:spPr>
          <a:xfrm>
            <a:off x="815975" y="1989460"/>
            <a:ext cx="2520950" cy="2007870"/>
          </a:xfrm>
          <a:prstGeom prst="roundRect">
            <a:avLst>
              <a:gd name="adj" fmla="val 4902"/>
            </a:avLst>
          </a:prstGeom>
          <a:solidFill>
            <a:srgbClr val="FBF8F1"/>
          </a:solidFill>
          <a:ln w="6350">
            <a:solidFill>
              <a:srgbClr val="D9CFBC"/>
            </a:solidFill>
            <a:prstDash val="solid"/>
          </a:ln>
        </p:spPr>
      </p:sp>
      <p:sp>
        <p:nvSpPr>
          <p:cNvPr id="5" name="Text 3"/>
          <p:cNvSpPr/>
          <p:nvPr/>
        </p:nvSpPr>
        <p:spPr>
          <a:xfrm>
            <a:off x="1046480" y="2219958"/>
            <a:ext cx="212173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7E5F1E"/>
                </a:solidFill>
                <a:latin typeface="Georgia" pitchFamily="18" charset="0"/>
                <a:ea typeface="Georgia" pitchFamily="18" charset="-122"/>
                <a:cs typeface="Georgia" pitchFamily="18" charset="-120"/>
              </a:rPr>
              <a:t>1</a:t>
            </a:r>
            <a:endParaRPr lang="en-US" sz="3200" dirty="0"/>
          </a:p>
        </p:txBody>
      </p:sp>
      <p:sp>
        <p:nvSpPr>
          <p:cNvPr id="6" name="Text 4"/>
          <p:cNvSpPr/>
          <p:nvPr/>
        </p:nvSpPr>
        <p:spPr>
          <a:xfrm>
            <a:off x="1046480" y="2727958"/>
            <a:ext cx="21217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729"/>
                </a:solidFill>
                <a:latin typeface="Arial" pitchFamily="34" charset="0"/>
                <a:ea typeface="Arial" pitchFamily="34" charset="-122"/>
                <a:cs typeface="Arial" pitchFamily="34" charset="-120"/>
              </a:rPr>
              <a:t>Action taken</a:t>
            </a:r>
            <a:endParaRPr lang="en-US" sz="1600" dirty="0"/>
          </a:p>
        </p:txBody>
      </p:sp>
      <p:sp>
        <p:nvSpPr>
          <p:cNvPr id="7" name="Text 5"/>
          <p:cNvSpPr/>
          <p:nvPr/>
        </p:nvSpPr>
        <p:spPr>
          <a:xfrm>
            <a:off x="1046480" y="3073400"/>
            <a:ext cx="228727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454"/>
                </a:solidFill>
                <a:latin typeface="Arial" pitchFamily="34" charset="0"/>
                <a:ea typeface="Arial" pitchFamily="34" charset="-122"/>
                <a:cs typeface="Arial" pitchFamily="34" charset="-120"/>
              </a:rPr>
              <a:t>What did you physically do?</a:t>
            </a:r>
            <a:endParaRPr lang="en-US" sz="1300" dirty="0"/>
          </a:p>
        </p:txBody>
      </p:sp>
      <p:sp>
        <p:nvSpPr>
          <p:cNvPr id="8" name="Shape 6"/>
          <p:cNvSpPr/>
          <p:nvPr/>
        </p:nvSpPr>
        <p:spPr>
          <a:xfrm>
            <a:off x="3495675" y="1989460"/>
            <a:ext cx="2520950" cy="2007870"/>
          </a:xfrm>
          <a:prstGeom prst="roundRect">
            <a:avLst>
              <a:gd name="adj" fmla="val 4902"/>
            </a:avLst>
          </a:prstGeom>
          <a:solidFill>
            <a:srgbClr val="FBF8F1"/>
          </a:solidFill>
          <a:ln w="6350">
            <a:solidFill>
              <a:srgbClr val="D9CFBC"/>
            </a:solidFill>
            <a:prstDash val="solid"/>
          </a:ln>
        </p:spPr>
      </p:sp>
      <p:sp>
        <p:nvSpPr>
          <p:cNvPr id="9" name="Text 7"/>
          <p:cNvSpPr/>
          <p:nvPr/>
        </p:nvSpPr>
        <p:spPr>
          <a:xfrm>
            <a:off x="3726180" y="2219958"/>
            <a:ext cx="212173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7E5F1E"/>
                </a:solidFill>
                <a:latin typeface="Georgia" pitchFamily="18" charset="0"/>
                <a:ea typeface="Georgia" pitchFamily="18" charset="-122"/>
                <a:cs typeface="Georgia" pitchFamily="18" charset="-120"/>
              </a:rPr>
              <a:t>2</a:t>
            </a:r>
            <a:endParaRPr lang="en-US" sz="3200" dirty="0"/>
          </a:p>
        </p:txBody>
      </p:sp>
      <p:sp>
        <p:nvSpPr>
          <p:cNvPr id="10" name="Text 8"/>
          <p:cNvSpPr/>
          <p:nvPr/>
        </p:nvSpPr>
        <p:spPr>
          <a:xfrm>
            <a:off x="3726180" y="2727958"/>
            <a:ext cx="21217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729"/>
                </a:solidFill>
                <a:latin typeface="Arial" pitchFamily="34" charset="0"/>
                <a:ea typeface="Arial" pitchFamily="34" charset="-122"/>
                <a:cs typeface="Arial" pitchFamily="34" charset="-120"/>
              </a:rPr>
              <a:t>Named notification</a:t>
            </a:r>
            <a:endParaRPr lang="en-US" sz="1600" dirty="0"/>
          </a:p>
        </p:txBody>
      </p:sp>
      <p:sp>
        <p:nvSpPr>
          <p:cNvPr id="11" name="Text 9"/>
          <p:cNvSpPr/>
          <p:nvPr/>
        </p:nvSpPr>
        <p:spPr>
          <a:xfrm>
            <a:off x="3726180" y="3073400"/>
            <a:ext cx="212173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454"/>
                </a:solidFill>
                <a:latin typeface="Arial" pitchFamily="34" charset="0"/>
                <a:ea typeface="Arial" pitchFamily="34" charset="-122"/>
                <a:cs typeface="Arial" pitchFamily="34" charset="-120"/>
              </a:rPr>
              <a:t>Who, by name and title, through what channel, at what time?</a:t>
            </a:r>
            <a:endParaRPr lang="en-US" sz="1300" dirty="0"/>
          </a:p>
        </p:txBody>
      </p:sp>
      <p:sp>
        <p:nvSpPr>
          <p:cNvPr id="12" name="Shape 10"/>
          <p:cNvSpPr/>
          <p:nvPr/>
        </p:nvSpPr>
        <p:spPr>
          <a:xfrm>
            <a:off x="6175375" y="1989460"/>
            <a:ext cx="2520950" cy="2007870"/>
          </a:xfrm>
          <a:prstGeom prst="roundRect">
            <a:avLst>
              <a:gd name="adj" fmla="val 4902"/>
            </a:avLst>
          </a:prstGeom>
          <a:solidFill>
            <a:srgbClr val="FBF8F1"/>
          </a:solidFill>
          <a:ln w="6350">
            <a:solidFill>
              <a:srgbClr val="D9CFBC"/>
            </a:solidFill>
            <a:prstDash val="solid"/>
          </a:ln>
        </p:spPr>
      </p:sp>
      <p:sp>
        <p:nvSpPr>
          <p:cNvPr id="13" name="Text 11"/>
          <p:cNvSpPr/>
          <p:nvPr/>
        </p:nvSpPr>
        <p:spPr>
          <a:xfrm>
            <a:off x="6405880" y="2219958"/>
            <a:ext cx="212173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7E5F1E"/>
                </a:solidFill>
                <a:latin typeface="Georgia" pitchFamily="18" charset="0"/>
                <a:ea typeface="Georgia" pitchFamily="18" charset="-122"/>
                <a:cs typeface="Georgia" pitchFamily="18" charset="-120"/>
              </a:rPr>
              <a:t>3</a:t>
            </a:r>
            <a:endParaRPr lang="en-US" sz="3200" dirty="0"/>
          </a:p>
        </p:txBody>
      </p:sp>
      <p:sp>
        <p:nvSpPr>
          <p:cNvPr id="14" name="Text 12"/>
          <p:cNvSpPr/>
          <p:nvPr/>
        </p:nvSpPr>
        <p:spPr>
          <a:xfrm>
            <a:off x="6405880" y="2727958"/>
            <a:ext cx="21217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729"/>
                </a:solidFill>
                <a:latin typeface="Arial" pitchFamily="34" charset="0"/>
                <a:ea typeface="Arial" pitchFamily="34" charset="-122"/>
                <a:cs typeface="Arial" pitchFamily="34" charset="-120"/>
              </a:rPr>
              <a:t>Current status</a:t>
            </a:r>
            <a:endParaRPr lang="en-US" sz="1600" dirty="0"/>
          </a:p>
        </p:txBody>
      </p:sp>
      <p:sp>
        <p:nvSpPr>
          <p:cNvPr id="15" name="Text 13"/>
          <p:cNvSpPr/>
          <p:nvPr/>
        </p:nvSpPr>
        <p:spPr>
          <a:xfrm>
            <a:off x="6405880" y="3073400"/>
            <a:ext cx="212173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454"/>
                </a:solidFill>
                <a:latin typeface="Arial" pitchFamily="34" charset="0"/>
                <a:ea typeface="Arial" pitchFamily="34" charset="-122"/>
                <a:cs typeface="Arial" pitchFamily="34" charset="-120"/>
              </a:rPr>
              <a:t>Resolved, escalated, or pending. Said out loud.</a:t>
            </a:r>
            <a:endParaRPr lang="en-US" sz="1300" dirty="0"/>
          </a:p>
        </p:txBody>
      </p:sp>
      <p:sp>
        <p:nvSpPr>
          <p:cNvPr id="16" name="Shape 14"/>
          <p:cNvSpPr/>
          <p:nvPr/>
        </p:nvSpPr>
        <p:spPr>
          <a:xfrm>
            <a:off x="8855075" y="1989460"/>
            <a:ext cx="2520950" cy="2007870"/>
          </a:xfrm>
          <a:prstGeom prst="roundRect">
            <a:avLst>
              <a:gd name="adj" fmla="val 4902"/>
            </a:avLst>
          </a:prstGeom>
          <a:solidFill>
            <a:srgbClr val="FBF8F1"/>
          </a:solidFill>
          <a:ln w="6350">
            <a:solidFill>
              <a:srgbClr val="D9CFBC"/>
            </a:solidFill>
            <a:prstDash val="solid"/>
          </a:ln>
        </p:spPr>
      </p:sp>
      <p:sp>
        <p:nvSpPr>
          <p:cNvPr id="17" name="Text 15"/>
          <p:cNvSpPr/>
          <p:nvPr/>
        </p:nvSpPr>
        <p:spPr>
          <a:xfrm>
            <a:off x="9085580" y="2219958"/>
            <a:ext cx="212173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7E5F1E"/>
                </a:solidFill>
                <a:latin typeface="Georgia" pitchFamily="18" charset="0"/>
                <a:ea typeface="Georgia" pitchFamily="18" charset="-122"/>
                <a:cs typeface="Georgia" pitchFamily="18" charset="-120"/>
              </a:rPr>
              <a:t>4</a:t>
            </a:r>
            <a:endParaRPr lang="en-US" sz="3200" dirty="0"/>
          </a:p>
        </p:txBody>
      </p:sp>
      <p:sp>
        <p:nvSpPr>
          <p:cNvPr id="18" name="Text 16"/>
          <p:cNvSpPr/>
          <p:nvPr/>
        </p:nvSpPr>
        <p:spPr>
          <a:xfrm>
            <a:off x="9085580" y="2727958"/>
            <a:ext cx="21217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729"/>
                </a:solidFill>
                <a:latin typeface="Arial" pitchFamily="34" charset="0"/>
                <a:ea typeface="Arial" pitchFamily="34" charset="-122"/>
                <a:cs typeface="Arial" pitchFamily="34" charset="-120"/>
              </a:rPr>
              <a:t>Next step &amp; owner</a:t>
            </a:r>
            <a:endParaRPr lang="en-US" sz="1600" dirty="0"/>
          </a:p>
        </p:txBody>
      </p:sp>
      <p:sp>
        <p:nvSpPr>
          <p:cNvPr id="19" name="Text 17"/>
          <p:cNvSpPr/>
          <p:nvPr/>
        </p:nvSpPr>
        <p:spPr>
          <a:xfrm>
            <a:off x="9085580" y="3073400"/>
            <a:ext cx="212173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454"/>
                </a:solidFill>
                <a:latin typeface="Arial" pitchFamily="34" charset="0"/>
                <a:ea typeface="Arial" pitchFamily="34" charset="-122"/>
                <a:cs typeface="Arial" pitchFamily="34" charset="-120"/>
              </a:rPr>
              <a:t>Who owns what happens next, and when?</a:t>
            </a:r>
            <a:endParaRPr lang="en-US" sz="1300" dirty="0"/>
          </a:p>
        </p:txBody>
      </p:sp>
      <p:sp>
        <p:nvSpPr>
          <p:cNvPr id="20" name="Text 18"/>
          <p:cNvSpPr/>
          <p:nvPr/>
        </p:nvSpPr>
        <p:spPr>
          <a:xfrm>
            <a:off x="812800" y="43561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454"/>
                </a:solidFill>
                <a:latin typeface="Arial" pitchFamily="34" charset="0"/>
                <a:ea typeface="Arial" pitchFamily="34" charset="-122"/>
                <a:cs typeface="Arial" pitchFamily="34" charset="-120"/>
              </a:rPr>
              <a:t>An entry that stops at the Detail is an open loop. The next agent inherits a problem they don't know exists.</a:t>
            </a:r>
            <a:endParaRPr lang="en-US" sz="16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Coach block · Packet: Module 3, practice entries A, B, C</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MODEL ENTRY · PRACTICE B</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CDD"/>
                </a:solidFill>
                <a:latin typeface="Georgia" pitchFamily="18" charset="0"/>
                <a:ea typeface="Georgia" pitchFamily="18" charset="-122"/>
                <a:cs typeface="Georgia" pitchFamily="18" charset="-120"/>
              </a:rPr>
              <a:t>What a complete entry looks like</a:t>
            </a:r>
            <a:endParaRPr lang="en-US" sz="3600" dirty="0"/>
          </a:p>
        </p:txBody>
      </p:sp>
      <p:sp>
        <p:nvSpPr>
          <p:cNvPr id="4" name="Shape 2"/>
          <p:cNvSpPr/>
          <p:nvPr/>
        </p:nvSpPr>
        <p:spPr>
          <a:xfrm>
            <a:off x="822325" y="1935485"/>
            <a:ext cx="0" cy="2000250"/>
          </a:xfrm>
          <a:prstGeom prst="line">
            <a:avLst/>
          </a:prstGeom>
          <a:noFill/>
          <a:ln w="19050">
            <a:solidFill>
              <a:srgbClr val="C9A84C"/>
            </a:solidFill>
            <a:prstDash val="solid"/>
          </a:ln>
        </p:spPr>
      </p:sp>
      <p:sp>
        <p:nvSpPr>
          <p:cNvPr id="5" name="Text 3"/>
          <p:cNvSpPr/>
          <p:nvPr/>
        </p:nvSpPr>
        <p:spPr>
          <a:xfrm>
            <a:off x="1132840" y="1935485"/>
            <a:ext cx="10553751"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F3ECDD"/>
                </a:solidFill>
                <a:latin typeface="Courier New" pitchFamily="49" charset="0"/>
                <a:ea typeface="Courier New" pitchFamily="49" charset="-122"/>
                <a:cs typeface="Courier New" pitchFamily="49" charset="-120"/>
              </a:rPr>
              <a:t>9:20 PM — Water in Floor 6 Hallway</a:t>
            </a:r>
            <a:endParaRPr lang="en-US" sz="1500" dirty="0"/>
          </a:p>
        </p:txBody>
      </p:sp>
      <p:sp>
        <p:nvSpPr>
          <p:cNvPr id="6" name="Text 4"/>
          <p:cNvSpPr/>
          <p:nvPr/>
        </p:nvSpPr>
        <p:spPr>
          <a:xfrm>
            <a:off x="1132840" y="2221235"/>
            <a:ext cx="10553751"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9A84C"/>
                </a:solidFill>
                <a:latin typeface="Courier New" pitchFamily="49" charset="0"/>
                <a:ea typeface="Courier New" pitchFamily="49" charset="-122"/>
                <a:cs typeface="Courier New" pitchFamily="49" charset="-120"/>
              </a:rPr>
              <a:t>E:</a:t>
            </a:r>
            <a:r>
              <a:rPr lang="en-US" sz="1500" dirty="0">
                <a:solidFill>
                  <a:srgbClr val="D4CCBC"/>
                </a:solidFill>
                <a:latin typeface="Courier New" pitchFamily="49" charset="0"/>
                <a:ea typeface="Courier New" pitchFamily="49" charset="-122"/>
                <a:cs typeface="Courier New" pitchFamily="49" charset="-120"/>
              </a:rPr>
              <a:t> Resident of Unit 614 reported water flooding the 6th-floor hallway, appearing to come from under the door of Unit 612.</a:t>
            </a:r>
            <a:endParaRPr lang="en-US" sz="1500" dirty="0"/>
          </a:p>
        </p:txBody>
      </p:sp>
      <p:sp>
        <p:nvSpPr>
          <p:cNvPr id="7" name="Text 5"/>
          <p:cNvSpPr/>
          <p:nvPr/>
        </p:nvSpPr>
        <p:spPr>
          <a:xfrm>
            <a:off x="1132840" y="2792735"/>
            <a:ext cx="10553751"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9A84C"/>
                </a:solidFill>
                <a:latin typeface="Courier New" pitchFamily="49" charset="0"/>
                <a:ea typeface="Courier New" pitchFamily="49" charset="-122"/>
                <a:cs typeface="Courier New" pitchFamily="49" charset="-120"/>
              </a:rPr>
              <a:t>D:</a:t>
            </a:r>
            <a:r>
              <a:rPr lang="en-US" sz="1500" dirty="0">
                <a:solidFill>
                  <a:srgbClr val="D4CCBC"/>
                </a:solidFill>
                <a:latin typeface="Courier New" pitchFamily="49" charset="0"/>
                <a:ea typeface="Courier New" pitchFamily="49" charset="-122"/>
                <a:cs typeface="Courier New" pitchFamily="49" charset="-120"/>
              </a:rPr>
              <a:t> Call received 9:20 PM. Concierge confirmed standing water outside Unit 612 at 9:24 PM. Unit 612 called, no answer.</a:t>
            </a:r>
            <a:endParaRPr lang="en-US" sz="1500" dirty="0"/>
          </a:p>
        </p:txBody>
      </p:sp>
      <p:sp>
        <p:nvSpPr>
          <p:cNvPr id="8" name="Text 6"/>
          <p:cNvSpPr/>
          <p:nvPr/>
        </p:nvSpPr>
        <p:spPr>
          <a:xfrm>
            <a:off x="1132840" y="3364235"/>
            <a:ext cx="10553751"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9A84C"/>
                </a:solidFill>
                <a:latin typeface="Courier New" pitchFamily="49" charset="0"/>
                <a:ea typeface="Courier New" pitchFamily="49" charset="-122"/>
                <a:cs typeface="Courier New" pitchFamily="49" charset="-120"/>
              </a:rPr>
              <a:t>O:</a:t>
            </a:r>
            <a:r>
              <a:rPr lang="en-US" sz="1500" dirty="0">
                <a:solidFill>
                  <a:srgbClr val="D4CCBC"/>
                </a:solidFill>
                <a:latin typeface="Courier New" pitchFamily="49" charset="0"/>
                <a:ea typeface="Courier New" pitchFamily="49" charset="-122"/>
                <a:cs typeface="Courier New" pitchFamily="49" charset="-120"/>
              </a:rPr>
              <a:t> On-call maintenance [name] contacted by phone 9:25 PM, ETA [time]. Supervisor notified by phone 9:27 PM. Incident report filed. Pending maintenance, flagged for pass-on.</a:t>
            </a:r>
            <a:endParaRPr lang="en-US" sz="15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Coach block · Third person, factual, time-stamped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A.C.T.</a:t>
            </a:r>
            <a:endParaRPr lang="en-US" sz="1200" dirty="0"/>
          </a:p>
        </p:txBody>
      </p:sp>
      <p:sp>
        <p:nvSpPr>
          <p:cNvPr id="3" name="Text 1"/>
          <p:cNvSpPr/>
          <p:nvPr>
            <p:ph type="title"/>
          </p:nvPr>
        </p:nvSpPr>
        <p:spPr>
          <a:xfrm>
            <a:off x="812800" y="1127758"/>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One structure for every high-pressure moment</a:t>
            </a:r>
            <a:endParaRPr lang="en-US" sz="3600" dirty="0"/>
          </a:p>
        </p:txBody>
      </p:sp>
      <p:sp>
        <p:nvSpPr>
          <p:cNvPr id="4" name="Shape 2"/>
          <p:cNvSpPr/>
          <p:nvPr/>
        </p:nvSpPr>
        <p:spPr>
          <a:xfrm>
            <a:off x="812800" y="2498725"/>
            <a:ext cx="3386614" cy="0"/>
          </a:xfrm>
          <a:prstGeom prst="line">
            <a:avLst/>
          </a:prstGeom>
          <a:noFill/>
          <a:ln w="19050">
            <a:solidFill>
              <a:srgbClr val="C9A84C"/>
            </a:solidFill>
            <a:prstDash val="solid"/>
          </a:ln>
        </p:spPr>
      </p:sp>
      <p:sp>
        <p:nvSpPr>
          <p:cNvPr id="5" name="Text 3"/>
          <p:cNvSpPr/>
          <p:nvPr/>
        </p:nvSpPr>
        <p:spPr>
          <a:xfrm>
            <a:off x="812800" y="2707642"/>
            <a:ext cx="3488212" cy="825500"/>
          </a:xfrm>
          <a:prstGeom prst="rect">
            <a:avLst/>
          </a:prstGeom>
          <a:noFill/>
          <a:ln/>
        </p:spPr>
        <p:txBody>
          <a:bodyPr wrap="square" lIns="0" tIns="0" rIns="0" bIns="0" rtlCol="0" anchor="t">
            <a:normAutofit/>
          </a:bodyPr>
          <a:lstStyle/>
          <a:p>
            <a:pPr algn="l" indent="0" marL="0">
              <a:lnSpc>
                <a:spcPts val="6300"/>
              </a:lnSpc>
              <a:buNone/>
            </a:pPr>
            <a:r>
              <a:rPr lang="en-US" sz="7000" b="1" dirty="0">
                <a:solidFill>
                  <a:srgbClr val="7E5F1E"/>
                </a:solidFill>
                <a:latin typeface="Georgia" pitchFamily="18" charset="0"/>
                <a:ea typeface="Georgia" pitchFamily="18" charset="-122"/>
                <a:cs typeface="Georgia" pitchFamily="18" charset="-120"/>
              </a:rPr>
              <a:t>A</a:t>
            </a:r>
            <a:endParaRPr lang="en-US" sz="7000" dirty="0"/>
          </a:p>
        </p:txBody>
      </p:sp>
      <p:sp>
        <p:nvSpPr>
          <p:cNvPr id="6" name="Text 4"/>
          <p:cNvSpPr/>
          <p:nvPr/>
        </p:nvSpPr>
        <p:spPr>
          <a:xfrm>
            <a:off x="812800" y="3634742"/>
            <a:ext cx="34882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729"/>
                </a:solidFill>
                <a:latin typeface="Arial" pitchFamily="34" charset="0"/>
                <a:ea typeface="Arial" pitchFamily="34" charset="-122"/>
                <a:cs typeface="Arial" pitchFamily="34" charset="-120"/>
              </a:rPr>
              <a:t>Acknowledge</a:t>
            </a:r>
            <a:endParaRPr lang="en-US" sz="2000" dirty="0"/>
          </a:p>
        </p:txBody>
      </p:sp>
      <p:sp>
        <p:nvSpPr>
          <p:cNvPr id="7" name="Text 5"/>
          <p:cNvSpPr/>
          <p:nvPr/>
        </p:nvSpPr>
        <p:spPr>
          <a:xfrm>
            <a:off x="812800" y="4066542"/>
            <a:ext cx="34882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454"/>
                </a:solidFill>
                <a:latin typeface="Arial" pitchFamily="34" charset="0"/>
                <a:ea typeface="Arial" pitchFamily="34" charset="-122"/>
                <a:cs typeface="Arial" pitchFamily="34" charset="-120"/>
              </a:rPr>
              <a:t>Don't react, respond. Let them know they've been heard before you do anything else.</a:t>
            </a:r>
            <a:endParaRPr lang="en-US" sz="1500" dirty="0"/>
          </a:p>
        </p:txBody>
      </p:sp>
      <p:sp>
        <p:nvSpPr>
          <p:cNvPr id="8" name="Shape 6"/>
          <p:cNvSpPr/>
          <p:nvPr/>
        </p:nvSpPr>
        <p:spPr>
          <a:xfrm>
            <a:off x="4402614" y="2498725"/>
            <a:ext cx="3386693" cy="0"/>
          </a:xfrm>
          <a:prstGeom prst="line">
            <a:avLst/>
          </a:prstGeom>
          <a:noFill/>
          <a:ln w="19050">
            <a:solidFill>
              <a:srgbClr val="C9A84C"/>
            </a:solidFill>
            <a:prstDash val="solid"/>
          </a:ln>
        </p:spPr>
      </p:sp>
      <p:sp>
        <p:nvSpPr>
          <p:cNvPr id="9" name="Text 7"/>
          <p:cNvSpPr/>
          <p:nvPr/>
        </p:nvSpPr>
        <p:spPr>
          <a:xfrm>
            <a:off x="4402614" y="2707642"/>
            <a:ext cx="3488294" cy="825500"/>
          </a:xfrm>
          <a:prstGeom prst="rect">
            <a:avLst/>
          </a:prstGeom>
          <a:noFill/>
          <a:ln/>
        </p:spPr>
        <p:txBody>
          <a:bodyPr wrap="square" lIns="0" tIns="0" rIns="0" bIns="0" rtlCol="0" anchor="t">
            <a:normAutofit/>
          </a:bodyPr>
          <a:lstStyle/>
          <a:p>
            <a:pPr algn="l" indent="0" marL="0">
              <a:lnSpc>
                <a:spcPts val="6300"/>
              </a:lnSpc>
              <a:buNone/>
            </a:pPr>
            <a:r>
              <a:rPr lang="en-US" sz="7000" b="1" dirty="0">
                <a:solidFill>
                  <a:srgbClr val="7E5F1E"/>
                </a:solidFill>
                <a:latin typeface="Georgia" pitchFamily="18" charset="0"/>
                <a:ea typeface="Georgia" pitchFamily="18" charset="-122"/>
                <a:cs typeface="Georgia" pitchFamily="18" charset="-120"/>
              </a:rPr>
              <a:t>C</a:t>
            </a:r>
            <a:endParaRPr lang="en-US" sz="7000" dirty="0"/>
          </a:p>
        </p:txBody>
      </p:sp>
      <p:sp>
        <p:nvSpPr>
          <p:cNvPr id="10" name="Text 8"/>
          <p:cNvSpPr/>
          <p:nvPr/>
        </p:nvSpPr>
        <p:spPr>
          <a:xfrm>
            <a:off x="4402614" y="3634742"/>
            <a:ext cx="348829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729"/>
                </a:solidFill>
                <a:latin typeface="Arial" pitchFamily="34" charset="0"/>
                <a:ea typeface="Arial" pitchFamily="34" charset="-122"/>
                <a:cs typeface="Arial" pitchFamily="34" charset="-120"/>
              </a:rPr>
              <a:t>Control</a:t>
            </a:r>
            <a:endParaRPr lang="en-US" sz="2000" dirty="0"/>
          </a:p>
        </p:txBody>
      </p:sp>
      <p:sp>
        <p:nvSpPr>
          <p:cNvPr id="11" name="Text 9"/>
          <p:cNvSpPr/>
          <p:nvPr/>
        </p:nvSpPr>
        <p:spPr>
          <a:xfrm>
            <a:off x="4402614" y="4066542"/>
            <a:ext cx="348829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454"/>
                </a:solidFill>
                <a:latin typeface="Arial" pitchFamily="34" charset="0"/>
                <a:ea typeface="Arial" pitchFamily="34" charset="-122"/>
                <a:cs typeface="Arial" pitchFamily="34" charset="-120"/>
              </a:rPr>
              <a:t>The environment first, then the conversation. Lower your voice. Don't match their energy.</a:t>
            </a:r>
            <a:endParaRPr lang="en-US" sz="1500" dirty="0"/>
          </a:p>
        </p:txBody>
      </p:sp>
      <p:sp>
        <p:nvSpPr>
          <p:cNvPr id="12" name="Shape 10"/>
          <p:cNvSpPr/>
          <p:nvPr/>
        </p:nvSpPr>
        <p:spPr>
          <a:xfrm>
            <a:off x="7992507" y="2498725"/>
            <a:ext cx="3386693" cy="0"/>
          </a:xfrm>
          <a:prstGeom prst="line">
            <a:avLst/>
          </a:prstGeom>
          <a:noFill/>
          <a:ln w="19050">
            <a:solidFill>
              <a:srgbClr val="C9A84C"/>
            </a:solidFill>
            <a:prstDash val="solid"/>
          </a:ln>
        </p:spPr>
      </p:sp>
      <p:sp>
        <p:nvSpPr>
          <p:cNvPr id="13" name="Text 11"/>
          <p:cNvSpPr/>
          <p:nvPr/>
        </p:nvSpPr>
        <p:spPr>
          <a:xfrm>
            <a:off x="7992507" y="2707642"/>
            <a:ext cx="3488294" cy="825500"/>
          </a:xfrm>
          <a:prstGeom prst="rect">
            <a:avLst/>
          </a:prstGeom>
          <a:noFill/>
          <a:ln/>
        </p:spPr>
        <p:txBody>
          <a:bodyPr wrap="square" lIns="0" tIns="0" rIns="0" bIns="0" rtlCol="0" anchor="t">
            <a:normAutofit/>
          </a:bodyPr>
          <a:lstStyle/>
          <a:p>
            <a:pPr algn="l" indent="0" marL="0">
              <a:lnSpc>
                <a:spcPts val="6300"/>
              </a:lnSpc>
              <a:buNone/>
            </a:pPr>
            <a:r>
              <a:rPr lang="en-US" sz="7000" b="1" dirty="0">
                <a:solidFill>
                  <a:srgbClr val="7E5F1E"/>
                </a:solidFill>
                <a:latin typeface="Georgia" pitchFamily="18" charset="0"/>
                <a:ea typeface="Georgia" pitchFamily="18" charset="-122"/>
                <a:cs typeface="Georgia" pitchFamily="18" charset="-120"/>
              </a:rPr>
              <a:t>T</a:t>
            </a:r>
            <a:endParaRPr lang="en-US" sz="7000" dirty="0"/>
          </a:p>
        </p:txBody>
      </p:sp>
      <p:sp>
        <p:nvSpPr>
          <p:cNvPr id="14" name="Text 12"/>
          <p:cNvSpPr/>
          <p:nvPr/>
        </p:nvSpPr>
        <p:spPr>
          <a:xfrm>
            <a:off x="7992507" y="3634742"/>
            <a:ext cx="348829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729"/>
                </a:solidFill>
                <a:latin typeface="Arial" pitchFamily="34" charset="0"/>
                <a:ea typeface="Arial" pitchFamily="34" charset="-122"/>
                <a:cs typeface="Arial" pitchFamily="34" charset="-120"/>
              </a:rPr>
              <a:t>Transfer or resolve</a:t>
            </a:r>
            <a:endParaRPr lang="en-US" sz="2000" dirty="0"/>
          </a:p>
        </p:txBody>
      </p:sp>
      <p:sp>
        <p:nvSpPr>
          <p:cNvPr id="15" name="Text 13"/>
          <p:cNvSpPr/>
          <p:nvPr/>
        </p:nvSpPr>
        <p:spPr>
          <a:xfrm>
            <a:off x="7992507" y="4066542"/>
            <a:ext cx="348829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454"/>
                </a:solidFill>
                <a:latin typeface="Arial" pitchFamily="34" charset="0"/>
                <a:ea typeface="Arial" pitchFamily="34" charset="-122"/>
                <a:cs typeface="Arial" pitchFamily="34" charset="-120"/>
              </a:rPr>
              <a:t>Resolve within your authority, or escalate. Document either way. Escalation is strength.</a:t>
            </a:r>
            <a:endParaRPr lang="en-US" sz="15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Coach block · Your calm is your most powerful tool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SCENARIO 1 OF 5 · REQUIRED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CDD"/>
                </a:solidFill>
                <a:latin typeface="Georgia" pitchFamily="18" charset="0"/>
                <a:ea typeface="Georgia" pitchFamily="18" charset="-122"/>
                <a:cs typeface="Georgia" pitchFamily="18" charset="-120"/>
              </a:rPr>
              <a:t>The missing package</a:t>
            </a:r>
            <a:endParaRPr lang="en-US" sz="3600" dirty="0"/>
          </a:p>
        </p:txBody>
      </p:sp>
      <p:sp>
        <p:nvSpPr>
          <p:cNvPr id="4" name="Text 2"/>
          <p:cNvSpPr/>
          <p:nvPr/>
        </p:nvSpPr>
        <p:spPr>
          <a:xfrm>
            <a:off x="812800" y="1986285"/>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THE SITUATION</a:t>
            </a:r>
            <a:endParaRPr lang="en-US" sz="1200" dirty="0"/>
          </a:p>
        </p:txBody>
      </p:sp>
      <p:sp>
        <p:nvSpPr>
          <p:cNvPr id="5" name="Text 3"/>
          <p:cNvSpPr/>
          <p:nvPr/>
        </p:nvSpPr>
        <p:spPr>
          <a:xfrm>
            <a:off x="812800" y="2326642"/>
            <a:ext cx="6153302"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CDD"/>
                </a:solidFill>
                <a:latin typeface="Arial" pitchFamily="34" charset="0"/>
                <a:ea typeface="Arial" pitchFamily="34" charset="-122"/>
                <a:cs typeface="Arial" pitchFamily="34" charset="-120"/>
              </a:rPr>
              <a:t>An agitated resident says a package delivered three days ago never reached them. The system shows it was signed in and stored.</a:t>
            </a:r>
            <a:endParaRPr lang="en-US" sz="2000" dirty="0"/>
          </a:p>
        </p:txBody>
      </p:sp>
      <p:sp>
        <p:nvSpPr>
          <p:cNvPr id="6" name="Shape 4"/>
          <p:cNvSpPr/>
          <p:nvPr/>
        </p:nvSpPr>
        <p:spPr>
          <a:xfrm>
            <a:off x="7399655" y="1986285"/>
            <a:ext cx="0" cy="1407160"/>
          </a:xfrm>
          <a:prstGeom prst="line">
            <a:avLst/>
          </a:prstGeom>
          <a:noFill/>
          <a:ln w="6350">
            <a:solidFill>
              <a:srgbClr val="33456A"/>
            </a:solidFill>
            <a:prstDash val="solid"/>
          </a:ln>
        </p:spPr>
      </p:sp>
      <p:sp>
        <p:nvSpPr>
          <p:cNvPr id="7" name="Text 5"/>
          <p:cNvSpPr/>
          <p:nvPr/>
        </p:nvSpPr>
        <p:spPr>
          <a:xfrm>
            <a:off x="7706360" y="1986285"/>
            <a:ext cx="378302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YOUR CALL</a:t>
            </a:r>
            <a:endParaRPr lang="en-US" sz="1200" dirty="0"/>
          </a:p>
        </p:txBody>
      </p:sp>
      <p:sp>
        <p:nvSpPr>
          <p:cNvPr id="8" name="Text 6"/>
          <p:cNvSpPr/>
          <p:nvPr/>
        </p:nvSpPr>
        <p:spPr>
          <a:xfrm>
            <a:off x="7790180" y="2326642"/>
            <a:ext cx="3691585"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say first?</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show them?</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log?</a:t>
            </a:r>
            <a:endParaRPr lang="en-US" sz="15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Coach block · Hire answers first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SCENARIO 2 OF 5 · REQUIRED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CDD"/>
                </a:solidFill>
                <a:latin typeface="Georgia" pitchFamily="18" charset="0"/>
                <a:ea typeface="Georgia" pitchFamily="18" charset="-122"/>
                <a:cs typeface="Georgia" pitchFamily="18" charset="-120"/>
              </a:rPr>
              <a:t>Everything at once</a:t>
            </a:r>
            <a:endParaRPr lang="en-US" sz="3600" dirty="0"/>
          </a:p>
        </p:txBody>
      </p:sp>
      <p:sp>
        <p:nvSpPr>
          <p:cNvPr id="4" name="Text 2"/>
          <p:cNvSpPr/>
          <p:nvPr/>
        </p:nvSpPr>
        <p:spPr>
          <a:xfrm>
            <a:off x="812800" y="1986285"/>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THE SITUATION</a:t>
            </a:r>
            <a:endParaRPr lang="en-US" sz="1200" dirty="0"/>
          </a:p>
        </p:txBody>
      </p:sp>
      <p:sp>
        <p:nvSpPr>
          <p:cNvPr id="5" name="Text 3"/>
          <p:cNvSpPr/>
          <p:nvPr/>
        </p:nvSpPr>
        <p:spPr>
          <a:xfrm>
            <a:off x="812800" y="2326642"/>
            <a:ext cx="6153302"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CDD"/>
                </a:solidFill>
                <a:latin typeface="Arial" pitchFamily="34" charset="0"/>
                <a:ea typeface="Arial" pitchFamily="34" charset="-122"/>
                <a:cs typeface="Arial" pitchFamily="34" charset="-120"/>
              </a:rPr>
              <a:t>The phone is ringing. A resident is at the desk. Maintenance is calling on the radio. A delivery driver is at the door.</a:t>
            </a:r>
            <a:endParaRPr lang="en-US" sz="2000" dirty="0"/>
          </a:p>
        </p:txBody>
      </p:sp>
      <p:sp>
        <p:nvSpPr>
          <p:cNvPr id="6" name="Shape 4"/>
          <p:cNvSpPr/>
          <p:nvPr/>
        </p:nvSpPr>
        <p:spPr>
          <a:xfrm>
            <a:off x="7399655" y="1986285"/>
            <a:ext cx="0" cy="1407160"/>
          </a:xfrm>
          <a:prstGeom prst="line">
            <a:avLst/>
          </a:prstGeom>
          <a:noFill/>
          <a:ln w="6350">
            <a:solidFill>
              <a:srgbClr val="33456A"/>
            </a:solidFill>
            <a:prstDash val="solid"/>
          </a:ln>
        </p:spPr>
      </p:sp>
      <p:sp>
        <p:nvSpPr>
          <p:cNvPr id="7" name="Text 5"/>
          <p:cNvSpPr/>
          <p:nvPr/>
        </p:nvSpPr>
        <p:spPr>
          <a:xfrm>
            <a:off x="7706360" y="1986285"/>
            <a:ext cx="378302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YOUR CALL</a:t>
            </a:r>
            <a:endParaRPr lang="en-US" sz="1200" dirty="0"/>
          </a:p>
        </p:txBody>
      </p:sp>
      <p:sp>
        <p:nvSpPr>
          <p:cNvPr id="8" name="Text 6"/>
          <p:cNvSpPr/>
          <p:nvPr/>
        </p:nvSpPr>
        <p:spPr>
          <a:xfrm>
            <a:off x="7790180" y="2326642"/>
            <a:ext cx="3691585"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Who gets attention first, and why?</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say to each?</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does your body language say?</a:t>
            </a:r>
            <a:endParaRPr lang="en-US" sz="15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Coach block · Hire answers first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SCENARIO 3 OF 5 · REQUIRED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CDD"/>
                </a:solidFill>
                <a:latin typeface="Georgia" pitchFamily="18" charset="0"/>
                <a:ea typeface="Georgia" pitchFamily="18" charset="-122"/>
                <a:cs typeface="Georgia" pitchFamily="18" charset="-120"/>
              </a:rPr>
              <a:t>The visitor who won't say</a:t>
            </a:r>
            <a:endParaRPr lang="en-US" sz="3600" dirty="0"/>
          </a:p>
        </p:txBody>
      </p:sp>
      <p:sp>
        <p:nvSpPr>
          <p:cNvPr id="4" name="Text 2"/>
          <p:cNvSpPr/>
          <p:nvPr/>
        </p:nvSpPr>
        <p:spPr>
          <a:xfrm>
            <a:off x="812800" y="1986285"/>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THE SITUATION</a:t>
            </a:r>
            <a:endParaRPr lang="en-US" sz="1200" dirty="0"/>
          </a:p>
        </p:txBody>
      </p:sp>
      <p:sp>
        <p:nvSpPr>
          <p:cNvPr id="5" name="Text 3"/>
          <p:cNvSpPr/>
          <p:nvPr/>
        </p:nvSpPr>
        <p:spPr>
          <a:xfrm>
            <a:off x="812800" y="2326642"/>
            <a:ext cx="6153302" cy="14478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CDD"/>
                </a:solidFill>
                <a:latin typeface="Arial" pitchFamily="34" charset="0"/>
                <a:ea typeface="Arial" pitchFamily="34" charset="-122"/>
                <a:cs typeface="Arial" pitchFamily="34" charset="-120"/>
              </a:rPr>
              <a:t>Someone has been seated in the lobby for 45 minutes. No check-in, no resident has acknowledged them, and their answers are vague when you approach.</a:t>
            </a:r>
            <a:endParaRPr lang="en-US" sz="2000" dirty="0"/>
          </a:p>
        </p:txBody>
      </p:sp>
      <p:sp>
        <p:nvSpPr>
          <p:cNvPr id="6" name="Shape 4"/>
          <p:cNvSpPr/>
          <p:nvPr/>
        </p:nvSpPr>
        <p:spPr>
          <a:xfrm>
            <a:off x="7399655" y="1986285"/>
            <a:ext cx="0" cy="1762760"/>
          </a:xfrm>
          <a:prstGeom prst="line">
            <a:avLst/>
          </a:prstGeom>
          <a:noFill/>
          <a:ln w="6350">
            <a:solidFill>
              <a:srgbClr val="33456A"/>
            </a:solidFill>
            <a:prstDash val="solid"/>
          </a:ln>
        </p:spPr>
      </p:sp>
      <p:sp>
        <p:nvSpPr>
          <p:cNvPr id="7" name="Text 5"/>
          <p:cNvSpPr/>
          <p:nvPr/>
        </p:nvSpPr>
        <p:spPr>
          <a:xfrm>
            <a:off x="7706360" y="1986285"/>
            <a:ext cx="378302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YOUR CALL</a:t>
            </a:r>
            <a:endParaRPr lang="en-US" sz="1200" dirty="0"/>
          </a:p>
        </p:txBody>
      </p:sp>
      <p:sp>
        <p:nvSpPr>
          <p:cNvPr id="8" name="Text 6"/>
          <p:cNvSpPr/>
          <p:nvPr/>
        </p:nvSpPr>
        <p:spPr>
          <a:xfrm>
            <a:off x="7790180" y="2326642"/>
            <a:ext cx="3691585"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How do you open?</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When do you escalate?</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never do?</a:t>
            </a:r>
            <a:endParaRPr lang="en-US" sz="15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Coach block · Hire answers first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SCENARIO 4 OF 5 · REQUIRED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CDD"/>
                </a:solidFill>
                <a:latin typeface="Georgia" pitchFamily="18" charset="0"/>
                <a:ea typeface="Georgia" pitchFamily="18" charset="-122"/>
                <a:cs typeface="Georgia" pitchFamily="18" charset="-120"/>
              </a:rPr>
              <a:t>The handoff that didn't happen</a:t>
            </a:r>
            <a:endParaRPr lang="en-US" sz="3600" dirty="0"/>
          </a:p>
        </p:txBody>
      </p:sp>
      <p:sp>
        <p:nvSpPr>
          <p:cNvPr id="4" name="Text 2"/>
          <p:cNvSpPr/>
          <p:nvPr/>
        </p:nvSpPr>
        <p:spPr>
          <a:xfrm>
            <a:off x="812800" y="1986285"/>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THE SITUATION</a:t>
            </a:r>
            <a:endParaRPr lang="en-US" sz="1200" dirty="0"/>
          </a:p>
        </p:txBody>
      </p:sp>
      <p:sp>
        <p:nvSpPr>
          <p:cNvPr id="5" name="Text 3"/>
          <p:cNvSpPr/>
          <p:nvPr/>
        </p:nvSpPr>
        <p:spPr>
          <a:xfrm>
            <a:off x="812800" y="2326642"/>
            <a:ext cx="6153302"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CDD"/>
                </a:solidFill>
                <a:latin typeface="Arial" pitchFamily="34" charset="0"/>
                <a:ea typeface="Arial" pitchFamily="34" charset="-122"/>
                <a:cs typeface="Arial" pitchFamily="34" charset="-120"/>
              </a:rPr>
              <a:t>You arrive for your shift. The outgoing agent is gone. The last log entry was four hours ago. A note says "maintenance issue on 7th floor, no details."</a:t>
            </a:r>
            <a:endParaRPr lang="en-US" sz="2000" dirty="0"/>
          </a:p>
        </p:txBody>
      </p:sp>
      <p:sp>
        <p:nvSpPr>
          <p:cNvPr id="6" name="Shape 4"/>
          <p:cNvSpPr/>
          <p:nvPr/>
        </p:nvSpPr>
        <p:spPr>
          <a:xfrm>
            <a:off x="7399655" y="1986285"/>
            <a:ext cx="0" cy="1407160"/>
          </a:xfrm>
          <a:prstGeom prst="line">
            <a:avLst/>
          </a:prstGeom>
          <a:noFill/>
          <a:ln w="6350">
            <a:solidFill>
              <a:srgbClr val="33456A"/>
            </a:solidFill>
            <a:prstDash val="solid"/>
          </a:ln>
        </p:spPr>
      </p:sp>
      <p:sp>
        <p:nvSpPr>
          <p:cNvPr id="7" name="Text 5"/>
          <p:cNvSpPr/>
          <p:nvPr/>
        </p:nvSpPr>
        <p:spPr>
          <a:xfrm>
            <a:off x="7706360" y="1986285"/>
            <a:ext cx="378302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YOUR CALL</a:t>
            </a:r>
            <a:endParaRPr lang="en-US" sz="1200" dirty="0"/>
          </a:p>
        </p:txBody>
      </p:sp>
      <p:sp>
        <p:nvSpPr>
          <p:cNvPr id="8" name="Text 6"/>
          <p:cNvSpPr/>
          <p:nvPr/>
        </p:nvSpPr>
        <p:spPr>
          <a:xfrm>
            <a:off x="7790180" y="2326642"/>
            <a:ext cx="3691585"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Your first 10 minutes?</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Who do you notify?</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How do you log what you inherited?</a:t>
            </a:r>
            <a:endParaRPr lang="en-US" sz="15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Coach block · Capstone · Hire answers first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SCENARIO 5 OF 5 · REQUIRED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CDD"/>
                </a:solidFill>
                <a:latin typeface="Georgia" pitchFamily="18" charset="0"/>
                <a:ea typeface="Georgia" pitchFamily="18" charset="-122"/>
                <a:cs typeface="Georgia" pitchFamily="18" charset="-120"/>
              </a:rPr>
              <a:t>The neighbor no one has seen</a:t>
            </a:r>
            <a:endParaRPr lang="en-US" sz="3600" dirty="0"/>
          </a:p>
        </p:txBody>
      </p:sp>
      <p:sp>
        <p:nvSpPr>
          <p:cNvPr id="4" name="Text 2"/>
          <p:cNvSpPr/>
          <p:nvPr/>
        </p:nvSpPr>
        <p:spPr>
          <a:xfrm>
            <a:off x="812800" y="1986285"/>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THE SITUATION</a:t>
            </a:r>
            <a:endParaRPr lang="en-US" sz="1200" dirty="0"/>
          </a:p>
        </p:txBody>
      </p:sp>
      <p:sp>
        <p:nvSpPr>
          <p:cNvPr id="5" name="Text 3"/>
          <p:cNvSpPr/>
          <p:nvPr/>
        </p:nvSpPr>
        <p:spPr>
          <a:xfrm>
            <a:off x="812800" y="2326642"/>
            <a:ext cx="6153302"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CDD"/>
                </a:solidFill>
                <a:latin typeface="Arial" pitchFamily="34" charset="0"/>
                <a:ea typeface="Arial" pitchFamily="34" charset="-122"/>
                <a:cs typeface="Arial" pitchFamily="34" charset="-120"/>
              </a:rPr>
              <a:t>A distressed resident asks whether anyone has checked on their neighbor in Unit 811. They haven't seen them in three days.</a:t>
            </a:r>
            <a:endParaRPr lang="en-US" sz="2000" dirty="0"/>
          </a:p>
        </p:txBody>
      </p:sp>
      <p:sp>
        <p:nvSpPr>
          <p:cNvPr id="6" name="Shape 4"/>
          <p:cNvSpPr/>
          <p:nvPr/>
        </p:nvSpPr>
        <p:spPr>
          <a:xfrm>
            <a:off x="7399655" y="1986285"/>
            <a:ext cx="0" cy="1407160"/>
          </a:xfrm>
          <a:prstGeom prst="line">
            <a:avLst/>
          </a:prstGeom>
          <a:noFill/>
          <a:ln w="6350">
            <a:solidFill>
              <a:srgbClr val="33456A"/>
            </a:solidFill>
            <a:prstDash val="solid"/>
          </a:ln>
        </p:spPr>
      </p:sp>
      <p:sp>
        <p:nvSpPr>
          <p:cNvPr id="7" name="Text 5"/>
          <p:cNvSpPr/>
          <p:nvPr/>
        </p:nvSpPr>
        <p:spPr>
          <a:xfrm>
            <a:off x="7706360" y="1986285"/>
            <a:ext cx="378302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YOUR CALL</a:t>
            </a:r>
            <a:endParaRPr lang="en-US" sz="1200" dirty="0"/>
          </a:p>
        </p:txBody>
      </p:sp>
      <p:sp>
        <p:nvSpPr>
          <p:cNvPr id="8" name="Text 6"/>
          <p:cNvSpPr/>
          <p:nvPr/>
        </p:nvSpPr>
        <p:spPr>
          <a:xfrm>
            <a:off x="7790180" y="2326642"/>
            <a:ext cx="3691585"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How do you respond?</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not do?</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Who is your first call?</a:t>
            </a:r>
            <a:endParaRPr lang="en-US" sz="15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Coach block · Capstone · Hire answers first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34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BONUS SCENARIO · IF TIME ALLOWS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CDD"/>
                </a:solidFill>
                <a:latin typeface="Georgia" pitchFamily="18" charset="0"/>
                <a:ea typeface="Georgia" pitchFamily="18" charset="-122"/>
                <a:cs typeface="Georgia" pitchFamily="18" charset="-120"/>
              </a:rPr>
              <a:t>When policy is silent</a:t>
            </a:r>
            <a:endParaRPr lang="en-US" sz="3600" dirty="0"/>
          </a:p>
        </p:txBody>
      </p:sp>
      <p:sp>
        <p:nvSpPr>
          <p:cNvPr id="4" name="Text 2"/>
          <p:cNvSpPr/>
          <p:nvPr/>
        </p:nvSpPr>
        <p:spPr>
          <a:xfrm>
            <a:off x="812800" y="1986285"/>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THE SITUATION</a:t>
            </a:r>
            <a:endParaRPr lang="en-US" sz="1200" dirty="0"/>
          </a:p>
        </p:txBody>
      </p:sp>
      <p:sp>
        <p:nvSpPr>
          <p:cNvPr id="5" name="Text 3"/>
          <p:cNvSpPr/>
          <p:nvPr/>
        </p:nvSpPr>
        <p:spPr>
          <a:xfrm>
            <a:off x="812800" y="2326642"/>
            <a:ext cx="6153302"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CDD"/>
                </a:solidFill>
                <a:latin typeface="Arial" pitchFamily="34" charset="0"/>
                <a:ea typeface="Arial" pitchFamily="34" charset="-122"/>
                <a:cs typeface="Arial" pitchFamily="34" charset="-120"/>
              </a:rPr>
              <a:t>A resident asks you to hold a key for a guest who will arrive after the resident leaves. There is no guest-key policy on file.</a:t>
            </a:r>
            <a:endParaRPr lang="en-US" sz="2000" dirty="0"/>
          </a:p>
        </p:txBody>
      </p:sp>
      <p:sp>
        <p:nvSpPr>
          <p:cNvPr id="6" name="Shape 4"/>
          <p:cNvSpPr/>
          <p:nvPr/>
        </p:nvSpPr>
        <p:spPr>
          <a:xfrm>
            <a:off x="7399655" y="1986285"/>
            <a:ext cx="0" cy="1407160"/>
          </a:xfrm>
          <a:prstGeom prst="line">
            <a:avLst/>
          </a:prstGeom>
          <a:noFill/>
          <a:ln w="6350">
            <a:solidFill>
              <a:srgbClr val="33456A"/>
            </a:solidFill>
            <a:prstDash val="solid"/>
          </a:ln>
        </p:spPr>
      </p:sp>
      <p:sp>
        <p:nvSpPr>
          <p:cNvPr id="7" name="Text 5"/>
          <p:cNvSpPr/>
          <p:nvPr/>
        </p:nvSpPr>
        <p:spPr>
          <a:xfrm>
            <a:off x="7706360" y="1986285"/>
            <a:ext cx="378302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YOUR CALL</a:t>
            </a:r>
            <a:endParaRPr lang="en-US" sz="1200" dirty="0"/>
          </a:p>
        </p:txBody>
      </p:sp>
      <p:sp>
        <p:nvSpPr>
          <p:cNvPr id="8" name="Text 6"/>
          <p:cNvSpPr/>
          <p:nvPr/>
        </p:nvSpPr>
        <p:spPr>
          <a:xfrm>
            <a:off x="7790180" y="2326642"/>
            <a:ext cx="3691585"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say?</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What's the correct action?</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log?</a:t>
            </a:r>
            <a:endParaRPr lang="en-US" sz="15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Coach block · Optional</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34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BONUS SCENARIO · IF TIME ALLOWS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CDD"/>
                </a:solidFill>
                <a:latin typeface="Georgia" pitchFamily="18" charset="0"/>
                <a:ea typeface="Georgia" pitchFamily="18" charset="-122"/>
                <a:cs typeface="Georgia" pitchFamily="18" charset="-120"/>
              </a:rPr>
              <a:t>The 11:30 PM noise call</a:t>
            </a:r>
            <a:endParaRPr lang="en-US" sz="3600" dirty="0"/>
          </a:p>
        </p:txBody>
      </p:sp>
      <p:sp>
        <p:nvSpPr>
          <p:cNvPr id="4" name="Text 2"/>
          <p:cNvSpPr/>
          <p:nvPr/>
        </p:nvSpPr>
        <p:spPr>
          <a:xfrm>
            <a:off x="812800" y="1986285"/>
            <a:ext cx="61533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THE SITUATION</a:t>
            </a:r>
            <a:endParaRPr lang="en-US" sz="1200" dirty="0"/>
          </a:p>
        </p:txBody>
      </p:sp>
      <p:sp>
        <p:nvSpPr>
          <p:cNvPr id="5" name="Text 3"/>
          <p:cNvSpPr/>
          <p:nvPr/>
        </p:nvSpPr>
        <p:spPr>
          <a:xfrm>
            <a:off x="812800" y="2326642"/>
            <a:ext cx="615330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CDD"/>
                </a:solidFill>
                <a:latin typeface="Arial" pitchFamily="34" charset="0"/>
                <a:ea typeface="Arial" pitchFamily="34" charset="-122"/>
                <a:cs typeface="Arial" pitchFamily="34" charset="-120"/>
              </a:rPr>
              <a:t>A resident calls about loud music from the unit directly above them. They want immediate action.</a:t>
            </a:r>
            <a:endParaRPr lang="en-US" sz="2000" dirty="0"/>
          </a:p>
        </p:txBody>
      </p:sp>
      <p:sp>
        <p:nvSpPr>
          <p:cNvPr id="6" name="Shape 4"/>
          <p:cNvSpPr/>
          <p:nvPr/>
        </p:nvSpPr>
        <p:spPr>
          <a:xfrm>
            <a:off x="7399655" y="1986285"/>
            <a:ext cx="0" cy="1197610"/>
          </a:xfrm>
          <a:prstGeom prst="line">
            <a:avLst/>
          </a:prstGeom>
          <a:noFill/>
          <a:ln w="6350">
            <a:solidFill>
              <a:srgbClr val="33456A"/>
            </a:solidFill>
            <a:prstDash val="solid"/>
          </a:ln>
        </p:spPr>
      </p:sp>
      <p:sp>
        <p:nvSpPr>
          <p:cNvPr id="7" name="Text 5"/>
          <p:cNvSpPr/>
          <p:nvPr/>
        </p:nvSpPr>
        <p:spPr>
          <a:xfrm>
            <a:off x="7706360" y="1986285"/>
            <a:ext cx="378302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A0AD"/>
                </a:solidFill>
                <a:latin typeface="Arial" pitchFamily="34" charset="0"/>
                <a:ea typeface="Arial" pitchFamily="34" charset="-122"/>
                <a:cs typeface="Arial" pitchFamily="34" charset="-120"/>
              </a:rPr>
              <a:t>YOUR CALL</a:t>
            </a:r>
            <a:endParaRPr lang="en-US" sz="1200" dirty="0"/>
          </a:p>
        </p:txBody>
      </p:sp>
      <p:sp>
        <p:nvSpPr>
          <p:cNvPr id="8" name="Text 6"/>
          <p:cNvSpPr/>
          <p:nvPr/>
        </p:nvSpPr>
        <p:spPr>
          <a:xfrm>
            <a:off x="7790180" y="2326642"/>
            <a:ext cx="3691585"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promise?</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What do you log?</a:t>
            </a:r>
            <a:endParaRPr lang="en-US" sz="1500" dirty="0"/>
          </a:p>
          <a:p>
            <a:pPr algn="l" marL="170180" indent="-170180">
              <a:lnSpc>
                <a:spcPts val="2250"/>
              </a:lnSpc>
              <a:buSzPct val="100000"/>
              <a:buChar char="•"/>
            </a:pPr>
            <a:r>
              <a:rPr lang="en-US" sz="1500" dirty="0">
                <a:solidFill>
                  <a:srgbClr val="D4CCBC"/>
                </a:solidFill>
                <a:latin typeface="Arial" pitchFamily="34" charset="0"/>
                <a:ea typeface="Arial" pitchFamily="34" charset="-122"/>
                <a:cs typeface="Arial" pitchFamily="34" charset="-120"/>
              </a:rPr>
              <a:t>Who do you call?</a:t>
            </a:r>
            <a:endParaRPr lang="en-US" sz="15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Coach block · Optional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2378708"/>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EMERGENCY DRILL · NO NOTES, NO CARDS</a:t>
            </a:r>
            <a:endParaRPr lang="en-US" sz="1200" dirty="0"/>
          </a:p>
        </p:txBody>
      </p:sp>
      <p:sp>
        <p:nvSpPr>
          <p:cNvPr id="3" name="Text 1"/>
          <p:cNvSpPr/>
          <p:nvPr/>
        </p:nvSpPr>
        <p:spPr>
          <a:xfrm>
            <a:off x="812800" y="2998477"/>
            <a:ext cx="3418474"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3ECDD"/>
                </a:solidFill>
                <a:latin typeface="Georgia" pitchFamily="18" charset="0"/>
                <a:ea typeface="Georgia" pitchFamily="18" charset="-122"/>
                <a:cs typeface="Georgia" pitchFamily="18" charset="-120"/>
              </a:rPr>
              <a:t>Fire.</a:t>
            </a:r>
            <a:endParaRPr lang="en-US" sz="5600" dirty="0"/>
          </a:p>
        </p:txBody>
      </p:sp>
      <p:sp>
        <p:nvSpPr>
          <p:cNvPr id="4" name="Text 2"/>
          <p:cNvSpPr/>
          <p:nvPr/>
        </p:nvSpPr>
        <p:spPr>
          <a:xfrm>
            <a:off x="4436507" y="2998477"/>
            <a:ext cx="3418556"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3ECDD"/>
                </a:solidFill>
                <a:latin typeface="Georgia" pitchFamily="18" charset="0"/>
                <a:ea typeface="Georgia" pitchFamily="18" charset="-122"/>
                <a:cs typeface="Georgia" pitchFamily="18" charset="-120"/>
              </a:rPr>
              <a:t>Medical.</a:t>
            </a:r>
            <a:endParaRPr lang="en-US" sz="5600" dirty="0"/>
          </a:p>
        </p:txBody>
      </p:sp>
      <p:sp>
        <p:nvSpPr>
          <p:cNvPr id="5" name="Text 3"/>
          <p:cNvSpPr/>
          <p:nvPr/>
        </p:nvSpPr>
        <p:spPr>
          <a:xfrm>
            <a:off x="8060293" y="2998477"/>
            <a:ext cx="3982689"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3ECDD"/>
                </a:solidFill>
                <a:latin typeface="Georgia" pitchFamily="18" charset="0"/>
                <a:ea typeface="Georgia" pitchFamily="18" charset="-122"/>
                <a:cs typeface="Georgia" pitchFamily="18" charset="-120"/>
              </a:rPr>
              <a:t>Security.</a:t>
            </a:r>
            <a:endParaRPr lang="en-US" sz="5600" dirty="0"/>
          </a:p>
        </p:txBody>
      </p:sp>
      <p:sp>
        <p:nvSpPr>
          <p:cNvPr id="6" name="Text 4"/>
          <p:cNvSpPr/>
          <p:nvPr/>
        </p:nvSpPr>
        <p:spPr>
          <a:xfrm>
            <a:off x="812800" y="4116077"/>
            <a:ext cx="10883392" cy="388620"/>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C9A84C"/>
                </a:solidFill>
                <a:latin typeface="Arial" pitchFamily="34" charset="0"/>
                <a:ea typeface="Arial" pitchFamily="34" charset="-122"/>
                <a:cs typeface="Arial" pitchFamily="34" charset="-120"/>
              </a:rPr>
              <a:t>First three steps. Go.</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CALL FIRST · DOCUMENT EVERYTHING · SUPPORT WITHIN YOUR ROLE</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You are not a first responder</a:t>
            </a:r>
            <a:endParaRPr lang="en-US" sz="3600" dirty="0"/>
          </a:p>
        </p:txBody>
      </p:sp>
      <p:sp>
        <p:nvSpPr>
          <p:cNvPr id="4" name="Shape 2"/>
          <p:cNvSpPr/>
          <p:nvPr/>
        </p:nvSpPr>
        <p:spPr>
          <a:xfrm>
            <a:off x="815975" y="1938660"/>
            <a:ext cx="3380264" cy="3082925"/>
          </a:xfrm>
          <a:prstGeom prst="roundRect">
            <a:avLst>
              <a:gd name="adj" fmla="val 3193"/>
            </a:avLst>
          </a:prstGeom>
          <a:solidFill>
            <a:srgbClr val="FBF8F1"/>
          </a:solidFill>
          <a:ln w="6350">
            <a:solidFill>
              <a:srgbClr val="D9CFBC"/>
            </a:solidFill>
            <a:prstDash val="solid"/>
          </a:ln>
        </p:spPr>
      </p:sp>
      <p:sp>
        <p:nvSpPr>
          <p:cNvPr id="5" name="Text 3"/>
          <p:cNvSpPr/>
          <p:nvPr/>
        </p:nvSpPr>
        <p:spPr>
          <a:xfrm>
            <a:off x="1046480" y="2169158"/>
            <a:ext cx="3006831"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0B1729"/>
                </a:solidFill>
                <a:latin typeface="Georgia" pitchFamily="18" charset="0"/>
                <a:ea typeface="Georgia" pitchFamily="18" charset="-122"/>
                <a:cs typeface="Georgia" pitchFamily="18" charset="-120"/>
              </a:rPr>
              <a:t>Fire</a:t>
            </a:r>
            <a:endParaRPr lang="en-US" sz="2400" dirty="0"/>
          </a:p>
        </p:txBody>
      </p:sp>
      <p:sp>
        <p:nvSpPr>
          <p:cNvPr id="6" name="Text 4"/>
          <p:cNvSpPr/>
          <p:nvPr/>
        </p:nvSpPr>
        <p:spPr>
          <a:xfrm>
            <a:off x="1116886" y="2636527"/>
            <a:ext cx="2928806" cy="1701165"/>
          </a:xfrm>
          <a:prstGeom prst="rect">
            <a:avLst/>
          </a:prstGeom>
          <a:noFill/>
          <a:ln/>
        </p:spPr>
        <p:txBody>
          <a:bodyPr wrap="square" lIns="0" tIns="0" rIns="0" bIns="0" rtlCol="0" anchor="t">
            <a:normAutofit/>
          </a:bodyPr>
          <a:lstStyle/>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Don't investigate. Call 911, then your supervisor</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Pull the alarm if it isn't sounding</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Direct residents to exits. No elevators</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Meet responders at the entrance</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No re-entry until cleared</a:t>
            </a:r>
            <a:endParaRPr lang="en-US" sz="1300" dirty="0"/>
          </a:p>
        </p:txBody>
      </p:sp>
      <p:sp>
        <p:nvSpPr>
          <p:cNvPr id="7" name="Shape 5"/>
          <p:cNvSpPr/>
          <p:nvPr/>
        </p:nvSpPr>
        <p:spPr>
          <a:xfrm>
            <a:off x="4405789" y="1938660"/>
            <a:ext cx="3380343" cy="3082925"/>
          </a:xfrm>
          <a:prstGeom prst="roundRect">
            <a:avLst>
              <a:gd name="adj" fmla="val 3193"/>
            </a:avLst>
          </a:prstGeom>
          <a:solidFill>
            <a:srgbClr val="FBF8F1"/>
          </a:solidFill>
          <a:ln w="6350">
            <a:solidFill>
              <a:srgbClr val="D9CFBC"/>
            </a:solidFill>
            <a:prstDash val="solid"/>
          </a:ln>
        </p:spPr>
      </p:sp>
      <p:sp>
        <p:nvSpPr>
          <p:cNvPr id="8" name="Text 6"/>
          <p:cNvSpPr/>
          <p:nvPr/>
        </p:nvSpPr>
        <p:spPr>
          <a:xfrm>
            <a:off x="4636294" y="2169158"/>
            <a:ext cx="3006913"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0B1729"/>
                </a:solidFill>
                <a:latin typeface="Georgia" pitchFamily="18" charset="0"/>
                <a:ea typeface="Georgia" pitchFamily="18" charset="-122"/>
                <a:cs typeface="Georgia" pitchFamily="18" charset="-120"/>
              </a:rPr>
              <a:t>Medical</a:t>
            </a:r>
            <a:endParaRPr lang="en-US" sz="2400" dirty="0"/>
          </a:p>
        </p:txBody>
      </p:sp>
      <p:sp>
        <p:nvSpPr>
          <p:cNvPr id="9" name="Text 7"/>
          <p:cNvSpPr/>
          <p:nvPr/>
        </p:nvSpPr>
        <p:spPr>
          <a:xfrm>
            <a:off x="4706699" y="2636527"/>
            <a:ext cx="2928888" cy="2179955"/>
          </a:xfrm>
          <a:prstGeom prst="rect">
            <a:avLst/>
          </a:prstGeom>
          <a:noFill/>
          <a:ln/>
        </p:spPr>
        <p:txBody>
          <a:bodyPr wrap="square" lIns="0" tIns="0" rIns="0" bIns="0" rtlCol="0" anchor="t">
            <a:normAutofit/>
          </a:bodyPr>
          <a:lstStyle/>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Call 911: address, floor, unit, what's happening</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Don't move them unless in immediate danger</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Stay with them, calm and professional</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Clear bystanders; keep a path for EMS</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Meet EMS at the entry point</a:t>
            </a:r>
            <a:endParaRPr lang="en-US" sz="1300" dirty="0"/>
          </a:p>
        </p:txBody>
      </p:sp>
      <p:sp>
        <p:nvSpPr>
          <p:cNvPr id="10" name="Shape 8"/>
          <p:cNvSpPr/>
          <p:nvPr/>
        </p:nvSpPr>
        <p:spPr>
          <a:xfrm>
            <a:off x="7995682" y="1938660"/>
            <a:ext cx="3380343" cy="3082925"/>
          </a:xfrm>
          <a:prstGeom prst="roundRect">
            <a:avLst>
              <a:gd name="adj" fmla="val 3193"/>
            </a:avLst>
          </a:prstGeom>
          <a:solidFill>
            <a:srgbClr val="FBF8F1"/>
          </a:solidFill>
          <a:ln w="6350">
            <a:solidFill>
              <a:srgbClr val="D9CFBC"/>
            </a:solidFill>
            <a:prstDash val="solid"/>
          </a:ln>
        </p:spPr>
      </p:sp>
      <p:sp>
        <p:nvSpPr>
          <p:cNvPr id="11" name="Text 9"/>
          <p:cNvSpPr/>
          <p:nvPr/>
        </p:nvSpPr>
        <p:spPr>
          <a:xfrm>
            <a:off x="8226187" y="2169158"/>
            <a:ext cx="3006913"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0B1729"/>
                </a:solidFill>
                <a:latin typeface="Georgia" pitchFamily="18" charset="0"/>
                <a:ea typeface="Georgia" pitchFamily="18" charset="-122"/>
                <a:cs typeface="Georgia" pitchFamily="18" charset="-120"/>
              </a:rPr>
              <a:t>Security</a:t>
            </a:r>
            <a:endParaRPr lang="en-US" sz="2400" dirty="0"/>
          </a:p>
        </p:txBody>
      </p:sp>
      <p:sp>
        <p:nvSpPr>
          <p:cNvPr id="12" name="Text 10"/>
          <p:cNvSpPr/>
          <p:nvPr/>
        </p:nvSpPr>
        <p:spPr>
          <a:xfrm>
            <a:off x="8296593" y="2636527"/>
            <a:ext cx="2928888" cy="1940560"/>
          </a:xfrm>
          <a:prstGeom prst="rect">
            <a:avLst/>
          </a:prstGeom>
          <a:noFill/>
          <a:ln/>
        </p:spPr>
        <p:txBody>
          <a:bodyPr wrap="square" lIns="0" tIns="0" rIns="0" bIns="0" rtlCol="0" anchor="t">
            <a:normAutofit/>
          </a:bodyPr>
          <a:lstStyle/>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Don't confront. Keep your distance</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Call 911 if the threat is credible</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Notify your supervisor by radio or second line</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Observe: description, direction, words</a:t>
            </a:r>
            <a:endParaRPr lang="en-US" sz="1300" dirty="0"/>
          </a:p>
          <a:p>
            <a:pPr algn="l" marL="183594" indent="-183594">
              <a:lnSpc>
                <a:spcPts val="1885"/>
              </a:lnSpc>
              <a:buSzPct val="100000"/>
              <a:buFontTx/>
              <a:buAutoNum type="arabicPeriod" startAt="1"/>
            </a:pPr>
            <a:r>
              <a:rPr lang="en-US" sz="1300" dirty="0">
                <a:solidFill>
                  <a:srgbClr val="3E4454"/>
                </a:solidFill>
                <a:latin typeface="Arial" pitchFamily="34" charset="0"/>
                <a:ea typeface="Arial" pitchFamily="34" charset="-122"/>
                <a:cs typeface="Arial" pitchFamily="34" charset="-120"/>
              </a:rPr>
              <a:t>Your safety first. Remove yourself from danger</a:t>
            </a:r>
            <a:endParaRPr lang="en-US" sz="13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Coach block · Every one ends the same way: document times, actions, who you notified</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SYSTEMS MATCH</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Three systems, every shift</a:t>
            </a:r>
            <a:endParaRPr lang="en-US" sz="3600" dirty="0"/>
          </a:p>
        </p:txBody>
      </p:sp>
      <p:sp>
        <p:nvSpPr>
          <p:cNvPr id="4" name="Shape 2"/>
          <p:cNvSpPr/>
          <p:nvPr/>
        </p:nvSpPr>
        <p:spPr>
          <a:xfrm>
            <a:off x="812800" y="1995810"/>
            <a:ext cx="3386614" cy="0"/>
          </a:xfrm>
          <a:prstGeom prst="line">
            <a:avLst/>
          </a:prstGeom>
          <a:noFill/>
          <a:ln w="19050">
            <a:solidFill>
              <a:srgbClr val="0B1729"/>
            </a:solidFill>
            <a:prstDash val="solid"/>
          </a:ln>
        </p:spPr>
      </p:sp>
      <p:sp>
        <p:nvSpPr>
          <p:cNvPr id="5" name="Text 3"/>
          <p:cNvSpPr/>
          <p:nvPr/>
        </p:nvSpPr>
        <p:spPr>
          <a:xfrm>
            <a:off x="812800" y="2179327"/>
            <a:ext cx="34882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729"/>
                </a:solidFill>
                <a:latin typeface="Arial" pitchFamily="34" charset="0"/>
                <a:ea typeface="Arial" pitchFamily="34" charset="-122"/>
                <a:cs typeface="Arial" pitchFamily="34" charset="-120"/>
              </a:rPr>
              <a:t>Connecteam</a:t>
            </a:r>
            <a:endParaRPr lang="en-US" sz="2000" dirty="0"/>
          </a:p>
        </p:txBody>
      </p:sp>
      <p:sp>
        <p:nvSpPr>
          <p:cNvPr id="6" name="Text 4"/>
          <p:cNvSpPr/>
          <p:nvPr/>
        </p:nvSpPr>
        <p:spPr>
          <a:xfrm>
            <a:off x="812800" y="2585727"/>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E5F1E"/>
                </a:solidFill>
                <a:latin typeface="Arial" pitchFamily="34" charset="0"/>
                <a:ea typeface="Arial" pitchFamily="34" charset="-122"/>
                <a:cs typeface="Arial" pitchFamily="34" charset="-120"/>
              </a:rPr>
              <a:t>SCHEDULING &amp; FORMS</a:t>
            </a:r>
            <a:endParaRPr lang="en-US" sz="1200" dirty="0"/>
          </a:p>
        </p:txBody>
      </p:sp>
      <p:sp>
        <p:nvSpPr>
          <p:cNvPr id="7" name="Text 5"/>
          <p:cNvSpPr/>
          <p:nvPr/>
        </p:nvSpPr>
        <p:spPr>
          <a:xfrm>
            <a:off x="910082" y="2900685"/>
            <a:ext cx="3383310" cy="10922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Schedule, clock in and out</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Shift swaps</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Incident reports, checklists</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Announcements</a:t>
            </a:r>
            <a:endParaRPr lang="en-US" sz="1400" dirty="0"/>
          </a:p>
        </p:txBody>
      </p:sp>
      <p:sp>
        <p:nvSpPr>
          <p:cNvPr id="8" name="Shape 6"/>
          <p:cNvSpPr/>
          <p:nvPr/>
        </p:nvSpPr>
        <p:spPr>
          <a:xfrm>
            <a:off x="4402614" y="1995810"/>
            <a:ext cx="3386693" cy="0"/>
          </a:xfrm>
          <a:prstGeom prst="line">
            <a:avLst/>
          </a:prstGeom>
          <a:noFill/>
          <a:ln w="19050">
            <a:solidFill>
              <a:srgbClr val="0B1729"/>
            </a:solidFill>
            <a:prstDash val="solid"/>
          </a:ln>
        </p:spPr>
      </p:sp>
      <p:sp>
        <p:nvSpPr>
          <p:cNvPr id="9" name="Text 7"/>
          <p:cNvSpPr/>
          <p:nvPr/>
        </p:nvSpPr>
        <p:spPr>
          <a:xfrm>
            <a:off x="4402614" y="2179327"/>
            <a:ext cx="348829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729"/>
                </a:solidFill>
                <a:latin typeface="Arial" pitchFamily="34" charset="0"/>
                <a:ea typeface="Arial" pitchFamily="34" charset="-122"/>
                <a:cs typeface="Arial" pitchFamily="34" charset="-120"/>
              </a:rPr>
              <a:t>Paylocity</a:t>
            </a:r>
            <a:endParaRPr lang="en-US" sz="2000" dirty="0"/>
          </a:p>
        </p:txBody>
      </p:sp>
      <p:sp>
        <p:nvSpPr>
          <p:cNvPr id="10" name="Text 8"/>
          <p:cNvSpPr/>
          <p:nvPr/>
        </p:nvSpPr>
        <p:spPr>
          <a:xfrm>
            <a:off x="4402614" y="2585727"/>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E5F1E"/>
                </a:solidFill>
                <a:latin typeface="Arial" pitchFamily="34" charset="0"/>
                <a:ea typeface="Arial" pitchFamily="34" charset="-122"/>
                <a:cs typeface="Arial" pitchFamily="34" charset="-120"/>
              </a:rPr>
              <a:t>PAYROLL &amp; HR</a:t>
            </a:r>
            <a:endParaRPr lang="en-US" sz="1200" dirty="0"/>
          </a:p>
        </p:txBody>
      </p:sp>
      <p:sp>
        <p:nvSpPr>
          <p:cNvPr id="11" name="Text 9"/>
          <p:cNvSpPr/>
          <p:nvPr/>
        </p:nvSpPr>
        <p:spPr>
          <a:xfrm>
            <a:off x="4499896" y="2900685"/>
            <a:ext cx="3383392" cy="10922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Onboarding documents</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Direct deposit</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Pay stubs, W-2</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Report pay issues fast</a:t>
            </a:r>
            <a:endParaRPr lang="en-US" sz="1400" dirty="0"/>
          </a:p>
        </p:txBody>
      </p:sp>
      <p:sp>
        <p:nvSpPr>
          <p:cNvPr id="12" name="Shape 10"/>
          <p:cNvSpPr/>
          <p:nvPr/>
        </p:nvSpPr>
        <p:spPr>
          <a:xfrm>
            <a:off x="7992507" y="1995810"/>
            <a:ext cx="3386693" cy="0"/>
          </a:xfrm>
          <a:prstGeom prst="line">
            <a:avLst/>
          </a:prstGeom>
          <a:noFill/>
          <a:ln w="19050">
            <a:solidFill>
              <a:srgbClr val="0B1729"/>
            </a:solidFill>
            <a:prstDash val="solid"/>
          </a:ln>
        </p:spPr>
      </p:sp>
      <p:sp>
        <p:nvSpPr>
          <p:cNvPr id="13" name="Text 11"/>
          <p:cNvSpPr/>
          <p:nvPr/>
        </p:nvSpPr>
        <p:spPr>
          <a:xfrm>
            <a:off x="7992507" y="2179327"/>
            <a:ext cx="348829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729"/>
                </a:solidFill>
                <a:latin typeface="Arial" pitchFamily="34" charset="0"/>
                <a:ea typeface="Arial" pitchFamily="34" charset="-122"/>
                <a:cs typeface="Arial" pitchFamily="34" charset="-120"/>
              </a:rPr>
              <a:t>Property system</a:t>
            </a:r>
            <a:endParaRPr lang="en-US" sz="2000" dirty="0"/>
          </a:p>
        </p:txBody>
      </p:sp>
      <p:sp>
        <p:nvSpPr>
          <p:cNvPr id="14" name="Text 12"/>
          <p:cNvSpPr/>
          <p:nvPr/>
        </p:nvSpPr>
        <p:spPr>
          <a:xfrm>
            <a:off x="7992507" y="2585727"/>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E5F1E"/>
                </a:solidFill>
                <a:latin typeface="Arial" pitchFamily="34" charset="0"/>
                <a:ea typeface="Arial" pitchFamily="34" charset="-122"/>
                <a:cs typeface="Arial" pitchFamily="34" charset="-120"/>
              </a:rPr>
              <a:t>SITE-SPECIFIC</a:t>
            </a:r>
            <a:endParaRPr lang="en-US" sz="1200" dirty="0"/>
          </a:p>
        </p:txBody>
      </p:sp>
      <p:sp>
        <p:nvSpPr>
          <p:cNvPr id="15" name="Text 13"/>
          <p:cNvSpPr/>
          <p:nvPr/>
        </p:nvSpPr>
        <p:spPr>
          <a:xfrm>
            <a:off x="8089789" y="2900685"/>
            <a:ext cx="3383392" cy="8255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Verify a resident before release</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Work orders; log the WO#</a:t>
            </a:r>
            <a:endParaRPr lang="en-US" sz="1400" dirty="0"/>
          </a:p>
          <a:p>
            <a:pPr algn="l" marL="156718" indent="-156718">
              <a:lnSpc>
                <a:spcPts val="2100"/>
              </a:lnSpc>
              <a:buSzPct val="100000"/>
              <a:buChar char="•"/>
            </a:pPr>
            <a:r>
              <a:rPr lang="en-US" sz="1400" dirty="0">
                <a:solidFill>
                  <a:srgbClr val="3E4454"/>
                </a:solidFill>
                <a:latin typeface="Arial" pitchFamily="34" charset="0"/>
                <a:ea typeface="Arial" pitchFamily="34" charset="-122"/>
                <a:cs typeface="Arial" pitchFamily="34" charset="-120"/>
              </a:rPr>
              <a:t>Yardi, Avalon Access, Associate Portal</a:t>
            </a:r>
            <a:endParaRPr lang="en-US" sz="14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Coach block · Packet: Coach block page, systems match</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C9A84C"/>
        </a:solidFill>
      </p:bgPr>
    </p:bg>
    <p:spTree>
      <p:nvGrpSpPr>
        <p:cNvPr id="1" name=""/>
        <p:cNvGrpSpPr/>
        <p:nvPr/>
      </p:nvGrpSpPr>
      <p:grpSpPr>
        <a:xfrm>
          <a:off x="0" y="0"/>
          <a:ext cx="0" cy="0"/>
          <a:chOff x="0" y="0"/>
          <a:chExt cx="0" cy="0"/>
        </a:xfrm>
      </p:grpSpPr>
      <p:sp>
        <p:nvSpPr>
          <p:cNvPr id="2" name="Text 0"/>
          <p:cNvSpPr/>
          <p:nvPr/>
        </p:nvSpPr>
        <p:spPr>
          <a:xfrm>
            <a:off x="812800" y="2146300"/>
            <a:ext cx="512775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B1729"/>
                </a:solidFill>
                <a:latin typeface="Arial" pitchFamily="34" charset="0"/>
                <a:ea typeface="Arial" pitchFamily="34" charset="-122"/>
                <a:cs typeface="Arial" pitchFamily="34" charset="-120"/>
              </a:rPr>
              <a:t>SHADOW &amp; ASSESSMENT · ABOUT 2¼ HOURS</a:t>
            </a:r>
            <a:endParaRPr lang="en-US" sz="1200" dirty="0"/>
          </a:p>
        </p:txBody>
      </p:sp>
      <p:sp>
        <p:nvSpPr>
          <p:cNvPr id="3" name="Text 1"/>
          <p:cNvSpPr/>
          <p:nvPr>
            <p:ph type="title"/>
          </p:nvPr>
        </p:nvSpPr>
        <p:spPr>
          <a:xfrm>
            <a:off x="812800" y="2562858"/>
            <a:ext cx="512775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0B1729"/>
                </a:solidFill>
                <a:latin typeface="Georgia" pitchFamily="18" charset="0"/>
                <a:ea typeface="Georgia" pitchFamily="18" charset="-122"/>
                <a:cs typeface="Georgia" pitchFamily="18" charset="-120"/>
              </a:rPr>
              <a:t>Go see it.</a:t>
            </a:r>
            <a:endParaRPr lang="en-US" sz="7000" dirty="0"/>
          </a:p>
        </p:txBody>
      </p:sp>
      <p:sp>
        <p:nvSpPr>
          <p:cNvPr id="4" name="Text 2"/>
          <p:cNvSpPr/>
          <p:nvPr/>
        </p:nvSpPr>
        <p:spPr>
          <a:xfrm>
            <a:off x="812800" y="3655058"/>
            <a:ext cx="5127752"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2638"/>
                </a:solidFill>
                <a:latin typeface="Arial" pitchFamily="34" charset="0"/>
                <a:ea typeface="Arial" pitchFamily="34" charset="-122"/>
                <a:cs typeface="Arial" pitchFamily="34" charset="-120"/>
              </a:rPr>
              <a:t>Walk your property with your Lead. Ask specific questions, not general ones. Back here when your assessment is graded.</a:t>
            </a:r>
            <a:endParaRPr lang="en-US" sz="1600" dirty="0"/>
          </a:p>
        </p:txBody>
      </p:sp>
      <p:sp>
        <p:nvSpPr>
          <p:cNvPr id="5" name="Shape 3"/>
          <p:cNvSpPr/>
          <p:nvPr/>
        </p:nvSpPr>
        <p:spPr>
          <a:xfrm>
            <a:off x="6400800" y="2143125"/>
            <a:ext cx="4978400" cy="0"/>
          </a:xfrm>
          <a:prstGeom prst="line">
            <a:avLst/>
          </a:prstGeom>
          <a:noFill/>
          <a:ln w="12700">
            <a:solidFill>
              <a:srgbClr val="0B1729"/>
            </a:solidFill>
            <a:prstDash val="solid"/>
          </a:ln>
        </p:spPr>
      </p:sp>
      <p:sp>
        <p:nvSpPr>
          <p:cNvPr id="6" name="Text 4"/>
          <p:cNvSpPr/>
          <p:nvPr/>
        </p:nvSpPr>
        <p:spPr>
          <a:xfrm>
            <a:off x="6400800" y="2273933"/>
            <a:ext cx="87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45 min</a:t>
            </a:r>
            <a:endParaRPr lang="en-US" sz="1500" dirty="0"/>
          </a:p>
        </p:txBody>
      </p:sp>
      <p:sp>
        <p:nvSpPr>
          <p:cNvPr id="7" name="Text 5"/>
          <p:cNvSpPr/>
          <p:nvPr/>
        </p:nvSpPr>
        <p:spPr>
          <a:xfrm>
            <a:off x="7429500" y="2273933"/>
            <a:ext cx="3949700" cy="292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Site walk checklist, initialed by your Lead</a:t>
            </a:r>
            <a:endParaRPr lang="en-US" sz="1500" dirty="0"/>
          </a:p>
        </p:txBody>
      </p:sp>
      <p:sp>
        <p:nvSpPr>
          <p:cNvPr id="8" name="Shape 6"/>
          <p:cNvSpPr/>
          <p:nvPr/>
        </p:nvSpPr>
        <p:spPr>
          <a:xfrm>
            <a:off x="6400800" y="2673983"/>
            <a:ext cx="4978400" cy="0"/>
          </a:xfrm>
          <a:prstGeom prst="line">
            <a:avLst/>
          </a:prstGeom>
          <a:noFill/>
          <a:ln w="12700">
            <a:solidFill>
              <a:srgbClr val="0B1729"/>
            </a:solidFill>
            <a:prstDash val="solid"/>
          </a:ln>
        </p:spPr>
      </p:sp>
      <p:sp>
        <p:nvSpPr>
          <p:cNvPr id="9" name="Text 7"/>
          <p:cNvSpPr/>
          <p:nvPr/>
        </p:nvSpPr>
        <p:spPr>
          <a:xfrm>
            <a:off x="6400800" y="2804802"/>
            <a:ext cx="876300" cy="5397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30 min</a:t>
            </a:r>
            <a:endParaRPr lang="en-US" sz="1500" dirty="0"/>
          </a:p>
        </p:txBody>
      </p:sp>
      <p:sp>
        <p:nvSpPr>
          <p:cNvPr id="10" name="Text 8"/>
          <p:cNvSpPr/>
          <p:nvPr/>
        </p:nvSpPr>
        <p:spPr>
          <a:xfrm>
            <a:off x="7429500" y="2804802"/>
            <a:ext cx="406819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Process three real packages. Log before moving</a:t>
            </a:r>
            <a:endParaRPr lang="en-US" sz="1500" dirty="0"/>
          </a:p>
        </p:txBody>
      </p:sp>
      <p:sp>
        <p:nvSpPr>
          <p:cNvPr id="11" name="Shape 9"/>
          <p:cNvSpPr/>
          <p:nvPr/>
        </p:nvSpPr>
        <p:spPr>
          <a:xfrm>
            <a:off x="6400800" y="3452502"/>
            <a:ext cx="4978400" cy="0"/>
          </a:xfrm>
          <a:prstGeom prst="line">
            <a:avLst/>
          </a:prstGeom>
          <a:noFill/>
          <a:ln w="12700">
            <a:solidFill>
              <a:srgbClr val="0B1729"/>
            </a:solidFill>
            <a:prstDash val="solid"/>
          </a:ln>
        </p:spPr>
      </p:sp>
      <p:sp>
        <p:nvSpPr>
          <p:cNvPr id="12" name="Text 10"/>
          <p:cNvSpPr/>
          <p:nvPr/>
        </p:nvSpPr>
        <p:spPr>
          <a:xfrm>
            <a:off x="6400800" y="3583310"/>
            <a:ext cx="87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15 min</a:t>
            </a:r>
            <a:endParaRPr lang="en-US" sz="1500" dirty="0"/>
          </a:p>
        </p:txBody>
      </p:sp>
      <p:sp>
        <p:nvSpPr>
          <p:cNvPr id="13" name="Text 11"/>
          <p:cNvSpPr/>
          <p:nvPr/>
        </p:nvSpPr>
        <p:spPr>
          <a:xfrm>
            <a:off x="7429500" y="3583310"/>
            <a:ext cx="3949700" cy="292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One live tour entry in E.D.O. Clock-in test</a:t>
            </a:r>
            <a:endParaRPr lang="en-US" sz="1500" dirty="0"/>
          </a:p>
        </p:txBody>
      </p:sp>
      <p:sp>
        <p:nvSpPr>
          <p:cNvPr id="14" name="Shape 12"/>
          <p:cNvSpPr/>
          <p:nvPr/>
        </p:nvSpPr>
        <p:spPr>
          <a:xfrm>
            <a:off x="6400800" y="3983360"/>
            <a:ext cx="4978400" cy="0"/>
          </a:xfrm>
          <a:prstGeom prst="line">
            <a:avLst/>
          </a:prstGeom>
          <a:noFill/>
          <a:ln w="12700">
            <a:solidFill>
              <a:srgbClr val="0B1729"/>
            </a:solidFill>
            <a:prstDash val="solid"/>
          </a:ln>
        </p:spPr>
      </p:sp>
      <p:sp>
        <p:nvSpPr>
          <p:cNvPr id="15" name="Shape 13"/>
          <p:cNvSpPr/>
          <p:nvPr/>
        </p:nvSpPr>
        <p:spPr>
          <a:xfrm>
            <a:off x="6400800" y="4511680"/>
            <a:ext cx="4978400" cy="0"/>
          </a:xfrm>
          <a:prstGeom prst="line">
            <a:avLst/>
          </a:prstGeom>
          <a:noFill/>
          <a:ln w="12700">
            <a:solidFill>
              <a:srgbClr val="0B1729"/>
            </a:solidFill>
            <a:prstDash val="solid"/>
          </a:ln>
        </p:spPr>
      </p:sp>
      <p:sp>
        <p:nvSpPr>
          <p:cNvPr id="16" name="Text 14"/>
          <p:cNvSpPr/>
          <p:nvPr/>
        </p:nvSpPr>
        <p:spPr>
          <a:xfrm>
            <a:off x="6400800" y="4114167"/>
            <a:ext cx="87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729"/>
                </a:solidFill>
                <a:latin typeface="Arial" pitchFamily="34" charset="0"/>
                <a:ea typeface="Arial" pitchFamily="34" charset="-122"/>
                <a:cs typeface="Arial" pitchFamily="34" charset="-120"/>
              </a:rPr>
              <a:t>45 min</a:t>
            </a:r>
            <a:endParaRPr lang="en-US" sz="1500" dirty="0"/>
          </a:p>
        </p:txBody>
      </p:sp>
      <p:sp>
        <p:nvSpPr>
          <p:cNvPr id="17" name="Text 15"/>
          <p:cNvSpPr/>
          <p:nvPr/>
        </p:nvSpPr>
        <p:spPr>
          <a:xfrm>
            <a:off x="7429500" y="4114167"/>
            <a:ext cx="3901250" cy="292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B1729"/>
                </a:solidFill>
                <a:latin typeface="Arial" pitchFamily="34" charset="0"/>
                <a:ea typeface="Arial" pitchFamily="34" charset="-122"/>
                <a:cs typeface="Arial" pitchFamily="34" charset="-120"/>
              </a:rPr>
              <a:t>Final assessment. No notes, no phone</a:t>
            </a:r>
            <a:endParaRPr lang="en-US" sz="1500" dirty="0"/>
          </a:p>
        </p:txBody>
      </p:sp>
      <p:sp>
        <p:nvSpPr>
          <p:cNvPr id="18" name="Text 1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638"/>
                </a:solidFill>
                <a:latin typeface="Arial" pitchFamily="34" charset="0"/>
                <a:ea typeface="Arial" pitchFamily="34" charset="-122"/>
                <a:cs typeface="Arial" pitchFamily="34" charset="-120"/>
              </a:rPr>
              <a:t>Apex NHE Speed Day · Coach block ends · Packet: Site shadow, then Final assessment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SIGN-OFF · 30 MINUTES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Your score. Your focus.</a:t>
            </a:r>
            <a:endParaRPr lang="en-US" sz="3600" dirty="0"/>
          </a:p>
        </p:txBody>
      </p:sp>
      <p:sp>
        <p:nvSpPr>
          <p:cNvPr id="4" name="Shape 2"/>
          <p:cNvSpPr/>
          <p:nvPr/>
        </p:nvSpPr>
        <p:spPr>
          <a:xfrm>
            <a:off x="815975" y="1989460"/>
            <a:ext cx="3380264" cy="2175510"/>
          </a:xfrm>
          <a:prstGeom prst="roundRect">
            <a:avLst>
              <a:gd name="adj" fmla="val 4524"/>
            </a:avLst>
          </a:prstGeom>
          <a:solidFill>
            <a:srgbClr val="FBF8F1"/>
          </a:solidFill>
          <a:ln w="6350">
            <a:solidFill>
              <a:srgbClr val="D9CFBC"/>
            </a:solidFill>
            <a:prstDash val="solid"/>
          </a:ln>
        </p:spPr>
      </p:sp>
      <p:sp>
        <p:nvSpPr>
          <p:cNvPr id="5" name="Text 3"/>
          <p:cNvSpPr/>
          <p:nvPr/>
        </p:nvSpPr>
        <p:spPr>
          <a:xfrm>
            <a:off x="1071880" y="2245358"/>
            <a:ext cx="295450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7E5F1E"/>
                </a:solidFill>
                <a:latin typeface="Georgia" pitchFamily="18" charset="0"/>
                <a:ea typeface="Georgia" pitchFamily="18" charset="-122"/>
                <a:cs typeface="Georgia" pitchFamily="18" charset="-120"/>
              </a:rPr>
              <a:t>16</a:t>
            </a:r>
            <a:r>
              <a:rPr lang="en-US" sz="6000" b="1" dirty="0">
                <a:solidFill>
                  <a:srgbClr val="9A9384"/>
                </a:solidFill>
                <a:latin typeface="Georgia" pitchFamily="18" charset="0"/>
                <a:ea typeface="Georgia" pitchFamily="18" charset="-122"/>
                <a:cs typeface="Georgia" pitchFamily="18" charset="-120"/>
              </a:rPr>
              <a:t>/20</a:t>
            </a:r>
            <a:endParaRPr lang="en-US" sz="6000" dirty="0"/>
          </a:p>
        </p:txBody>
      </p:sp>
      <p:sp>
        <p:nvSpPr>
          <p:cNvPr id="6" name="Text 4"/>
          <p:cNvSpPr/>
          <p:nvPr/>
        </p:nvSpPr>
        <p:spPr>
          <a:xfrm>
            <a:off x="1071880" y="3108958"/>
            <a:ext cx="295450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454"/>
                </a:solidFill>
                <a:latin typeface="Arial" pitchFamily="34" charset="0"/>
                <a:ea typeface="Arial" pitchFamily="34" charset="-122"/>
                <a:cs typeface="Arial" pitchFamily="34" charset="-120"/>
              </a:rPr>
              <a:t>Certifies. That's 80% across 14 questions and the written escalation entry.</a:t>
            </a:r>
            <a:endParaRPr lang="en-US" sz="1500" dirty="0"/>
          </a:p>
        </p:txBody>
      </p:sp>
      <p:sp>
        <p:nvSpPr>
          <p:cNvPr id="7" name="Shape 5"/>
          <p:cNvSpPr/>
          <p:nvPr/>
        </p:nvSpPr>
        <p:spPr>
          <a:xfrm>
            <a:off x="4405789" y="1989460"/>
            <a:ext cx="3380343" cy="2175510"/>
          </a:xfrm>
          <a:prstGeom prst="roundRect">
            <a:avLst>
              <a:gd name="adj" fmla="val 4524"/>
            </a:avLst>
          </a:prstGeom>
          <a:solidFill>
            <a:srgbClr val="FBF8F1"/>
          </a:solidFill>
          <a:ln w="6350">
            <a:solidFill>
              <a:srgbClr val="D9CFBC"/>
            </a:solidFill>
            <a:prstDash val="solid"/>
          </a:ln>
        </p:spPr>
      </p:sp>
      <p:sp>
        <p:nvSpPr>
          <p:cNvPr id="8" name="Text 6"/>
          <p:cNvSpPr/>
          <p:nvPr/>
        </p:nvSpPr>
        <p:spPr>
          <a:xfrm>
            <a:off x="4661694" y="2245358"/>
            <a:ext cx="295458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1729"/>
                </a:solidFill>
                <a:latin typeface="Georgia" pitchFamily="18" charset="0"/>
                <a:ea typeface="Georgia" pitchFamily="18" charset="-122"/>
                <a:cs typeface="Georgia" pitchFamily="18" charset="-120"/>
              </a:rPr>
              <a:t>Lowest area</a:t>
            </a:r>
            <a:endParaRPr lang="en-US" sz="2800" dirty="0"/>
          </a:p>
        </p:txBody>
      </p:sp>
      <p:sp>
        <p:nvSpPr>
          <p:cNvPr id="9" name="Text 7"/>
          <p:cNvSpPr/>
          <p:nvPr/>
        </p:nvSpPr>
        <p:spPr>
          <a:xfrm>
            <a:off x="4661694" y="2738127"/>
            <a:ext cx="295458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454"/>
                </a:solidFill>
                <a:latin typeface="Arial" pitchFamily="34" charset="0"/>
                <a:ea typeface="Arial" pitchFamily="34" charset="-122"/>
                <a:cs typeface="Arial" pitchFamily="34" charset="-120"/>
              </a:rPr>
              <a:t>Becomes your 30-day focus. It's named on your result screen.</a:t>
            </a:r>
            <a:endParaRPr lang="en-US" sz="1500" dirty="0"/>
          </a:p>
        </p:txBody>
      </p:sp>
      <p:sp>
        <p:nvSpPr>
          <p:cNvPr id="10" name="Shape 8"/>
          <p:cNvSpPr/>
          <p:nvPr/>
        </p:nvSpPr>
        <p:spPr>
          <a:xfrm>
            <a:off x="7995682" y="1989460"/>
            <a:ext cx="3380343" cy="2175510"/>
          </a:xfrm>
          <a:prstGeom prst="roundRect">
            <a:avLst>
              <a:gd name="adj" fmla="val 4524"/>
            </a:avLst>
          </a:prstGeom>
          <a:solidFill>
            <a:srgbClr val="FBF8F1"/>
          </a:solidFill>
          <a:ln w="6350">
            <a:solidFill>
              <a:srgbClr val="D9CFBC"/>
            </a:solidFill>
            <a:prstDash val="solid"/>
          </a:ln>
        </p:spPr>
      </p:sp>
      <p:sp>
        <p:nvSpPr>
          <p:cNvPr id="11" name="Text 9"/>
          <p:cNvSpPr/>
          <p:nvPr/>
        </p:nvSpPr>
        <p:spPr>
          <a:xfrm>
            <a:off x="8251587" y="2245358"/>
            <a:ext cx="295458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1729"/>
                </a:solidFill>
                <a:latin typeface="Georgia" pitchFamily="18" charset="0"/>
                <a:ea typeface="Georgia" pitchFamily="18" charset="-122"/>
                <a:cs typeface="Georgia" pitchFamily="18" charset="-120"/>
              </a:rPr>
              <a:t>Solo clearance</a:t>
            </a:r>
            <a:endParaRPr lang="en-US" sz="2800" dirty="0"/>
          </a:p>
        </p:txBody>
      </p:sp>
      <p:sp>
        <p:nvSpPr>
          <p:cNvPr id="12" name="Text 10"/>
          <p:cNvSpPr/>
          <p:nvPr/>
        </p:nvSpPr>
        <p:spPr>
          <a:xfrm>
            <a:off x="8251587" y="2738127"/>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454"/>
                </a:solidFill>
                <a:latin typeface="Arial" pitchFamily="34" charset="0"/>
                <a:ea typeface="Arial" pitchFamily="34" charset="-122"/>
                <a:cs typeface="Arial" pitchFamily="34" charset="-120"/>
              </a:rPr>
              <a:t>The score shows knowledge. Your Lead clears you for solo once you show it on shift.</a:t>
            </a:r>
            <a:endParaRPr lang="en-US" sz="15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Sign-off · Packet: Final assessment result, then Sign-off page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YOUR PATH FROM TODAY</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The first 90 days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5"/>
          <a:ext cx="10556240" cy="2684780"/>
        </p:xfrm>
        <a:graphic>
          <a:graphicData uri="http://schemas.openxmlformats.org/drawingml/2006/table">
            <a:tbl>
              <a:tblPr/>
              <a:tblGrid>
                <a:gridCol w="1688998"/>
                <a:gridCol w="2533498"/>
                <a:gridCol w="6333744"/>
              </a:tblGrid>
              <a:tr h="383540">
                <a:tc>
                  <a:txBody>
                    <a:bodyPr/>
                    <a:lstStyle/>
                    <a:p>
                      <a:pPr indent="0" marL="0">
                        <a:lnSpc>
                          <a:spcPts val="1960"/>
                        </a:lnSpc>
                        <a:buNone/>
                      </a:pPr>
                      <a:r>
                        <a:rPr lang="en-US" sz="1400" b="1" dirty="0">
                          <a:solidFill>
                            <a:srgbClr val="0B1729"/>
                          </a:solidFill>
                          <a:latin typeface="Arial" pitchFamily="34" charset="0"/>
                          <a:ea typeface="Arial" pitchFamily="34" charset="-122"/>
                          <a:cs typeface="Arial" pitchFamily="34" charset="-120"/>
                        </a:rPr>
                        <a:t>When</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8"/>
                    </a:solidFill>
                  </a:tcPr>
                </a:tc>
                <a:tc>
                  <a:txBody>
                    <a:bodyPr/>
                    <a:lstStyle/>
                    <a:p>
                      <a:pPr indent="0" marL="0">
                        <a:lnSpc>
                          <a:spcPts val="1960"/>
                        </a:lnSpc>
                        <a:buNone/>
                      </a:pPr>
                      <a:r>
                        <a:rPr lang="en-US" sz="1400" b="1" dirty="0">
                          <a:solidFill>
                            <a:srgbClr val="0B1729"/>
                          </a:solidFill>
                          <a:latin typeface="Arial" pitchFamily="34" charset="0"/>
                          <a:ea typeface="Arial" pitchFamily="34" charset="-122"/>
                          <a:cs typeface="Arial" pitchFamily="34" charset="-120"/>
                        </a:rPr>
                        <a:t>Stage</a:t>
                      </a:r>
                      <a:endParaRPr lang="en-US" sz="1400" dirty="0">
                        <a:latin typeface="Arial" charset="0"/>
                        <a:ea typeface="Arial" charset="0"/>
                        <a:cs typeface="Arial" charset="0"/>
                      </a:endParaRPr>
                    </a:p>
                  </a:txBody>
                  <a:tcPr marL="62230" marR="62230" marT="62230" marB="62230"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8"/>
                    </a:solidFill>
                  </a:tcPr>
                </a:tc>
                <a:tc>
                  <a:txBody>
                    <a:bodyPr/>
                    <a:lstStyle/>
                    <a:p>
                      <a:pPr indent="0" marL="0">
                        <a:lnSpc>
                          <a:spcPts val="1960"/>
                        </a:lnSpc>
                        <a:buNone/>
                      </a:pPr>
                      <a:r>
                        <a:rPr lang="en-US" sz="1400" b="1" dirty="0">
                          <a:solidFill>
                            <a:srgbClr val="0B1729"/>
                          </a:solidFill>
                          <a:latin typeface="Arial" pitchFamily="34" charset="0"/>
                          <a:ea typeface="Arial" pitchFamily="34" charset="-122"/>
                          <a:cs typeface="Arial" pitchFamily="34" charset="-120"/>
                        </a:rPr>
                        <a:t>What it looks like</a:t>
                      </a:r>
                      <a:endParaRPr lang="en-US" sz="1400" dirty="0">
                        <a:latin typeface="Arial" charset="0"/>
                        <a:ea typeface="Arial" charset="0"/>
                        <a:cs typeface="Arial" charset="0"/>
                      </a:endParaRPr>
                    </a:p>
                  </a:txBody>
                  <a:tcPr marL="62230" marR="62230" marT="62230" marB="62230"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8"/>
                    </a:solidFill>
                  </a:tcPr>
                </a:tc>
              </a:tr>
              <a:tr h="383540">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Days 1–3</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Shadow</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Every shift with your Lead. Observe, ask, log with guidance</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3540">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Days 4–7</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Supported</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You run the desk. Logs reviewed at end of shift</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3540">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Week 2</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Solo + check-ins</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Fully independent with a daily supervisor check-in</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3540">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Weeks 3–4</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Full operation</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Attendance, log quality, resident feedback, presence</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3540">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Day 30</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Formal review</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Your commitment card is read back to you</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3540">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Day 90</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Full evaluation</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0B1729"/>
                          </a:solidFill>
                          <a:latin typeface="Arial" pitchFamily="34" charset="0"/>
                          <a:ea typeface="Arial" pitchFamily="34" charset="-122"/>
                          <a:cs typeface="Arial" pitchFamily="34" charset="-120"/>
                        </a:rPr>
                        <a:t>End of probation. Excellence Academy eligibility</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bl>
          </a:graphicData>
        </a:graphic>
      </p:graphicFrame>
      <p:sp>
        <p:nvSpPr>
          <p:cNvPr id="5" name="Text 2"/>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Sign-off · Sick time becomes usable after day 90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729"/>
        </a:solidFill>
      </p:bgPr>
    </p:bg>
    <p:spTree>
      <p:nvGrpSpPr>
        <p:cNvPr id="1" name=""/>
        <p:cNvGrpSpPr/>
        <p:nvPr/>
      </p:nvGrpSpPr>
      <p:grpSpPr>
        <a:xfrm>
          <a:off x="0" y="0"/>
          <a:ext cx="0" cy="0"/>
          <a:chOff x="0" y="0"/>
          <a:chExt cx="0" cy="0"/>
        </a:xfrm>
      </p:grpSpPr>
      <p:sp>
        <p:nvSpPr>
          <p:cNvPr id="2" name="Text 0"/>
          <p:cNvSpPr/>
          <p:nvPr>
            <p:ph type="title"/>
          </p:nvPr>
        </p:nvSpPr>
        <p:spPr>
          <a:xfrm>
            <a:off x="812800" y="1593850"/>
            <a:ext cx="5127752" cy="349250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ECDD"/>
                </a:solidFill>
                <a:latin typeface="Georgia" pitchFamily="18" charset="0"/>
                <a:ea typeface="Georgia" pitchFamily="18" charset="-122"/>
                <a:cs typeface="Georgia" pitchFamily="18" charset="-120"/>
              </a:rPr>
              <a:t>We don't advance by tenure. </a:t>
            </a:r>
            <a:r>
              <a:rPr lang="en-US" sz="5200" b="1" i="1" dirty="0">
                <a:solidFill>
                  <a:srgbClr val="C9A84C"/>
                </a:solidFill>
                <a:latin typeface="Georgia" pitchFamily="18" charset="0"/>
                <a:ea typeface="Georgia" pitchFamily="18" charset="-122"/>
                <a:cs typeface="Georgia" pitchFamily="18" charset="-120"/>
              </a:rPr>
              <a:t>We advance by performance.</a:t>
            </a:r>
            <a:endParaRPr lang="en-US" sz="5200" dirty="0"/>
          </a:p>
        </p:txBody>
      </p:sp>
      <p:sp>
        <p:nvSpPr>
          <p:cNvPr id="3" name="Text 1"/>
          <p:cNvSpPr/>
          <p:nvPr/>
        </p:nvSpPr>
        <p:spPr>
          <a:xfrm>
            <a:off x="6400800" y="2369815"/>
            <a:ext cx="512775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84C"/>
                </a:solidFill>
                <a:latin typeface="Arial" pitchFamily="34" charset="0"/>
                <a:ea typeface="Arial" pitchFamily="34" charset="-122"/>
                <a:cs typeface="Arial" pitchFamily="34" charset="-120"/>
              </a:rPr>
              <a:t>EXCELLENCE ACADEMY ELIGIBILITY AT 90 DAYS</a:t>
            </a:r>
            <a:endParaRPr lang="en-US" sz="1200" dirty="0"/>
          </a:p>
        </p:txBody>
      </p:sp>
      <p:sp>
        <p:nvSpPr>
          <p:cNvPr id="4" name="Text 2"/>
          <p:cNvSpPr/>
          <p:nvPr/>
        </p:nvSpPr>
        <p:spPr>
          <a:xfrm>
            <a:off x="6477508" y="2710185"/>
            <a:ext cx="5043424" cy="1600200"/>
          </a:xfrm>
          <a:prstGeom prst="rect">
            <a:avLst/>
          </a:prstGeom>
          <a:noFill/>
          <a:ln/>
        </p:spPr>
        <p:txBody>
          <a:bodyPr wrap="square" lIns="0" tIns="0" rIns="0" bIns="0" rtlCol="0" anchor="t">
            <a:normAutofit/>
          </a:bodyPr>
          <a:lstStyle/>
          <a:p>
            <a:pPr algn="l" marL="177292" indent="-177292">
              <a:lnSpc>
                <a:spcPts val="2480"/>
              </a:lnSpc>
              <a:buSzPct val="100000"/>
              <a:buChar char="•"/>
            </a:pPr>
            <a:r>
              <a:rPr lang="en-US" sz="1600" dirty="0">
                <a:solidFill>
                  <a:srgbClr val="D4CCBC"/>
                </a:solidFill>
                <a:latin typeface="Arial" pitchFamily="34" charset="0"/>
                <a:ea typeface="Arial" pitchFamily="34" charset="-122"/>
                <a:cs typeface="Arial" pitchFamily="34" charset="-120"/>
              </a:rPr>
              <a:t>No unexcused absences</a:t>
            </a:r>
            <a:endParaRPr lang="en-US" sz="1600" dirty="0"/>
          </a:p>
          <a:p>
            <a:pPr algn="l" marL="177292" indent="-177292">
              <a:lnSpc>
                <a:spcPts val="2480"/>
              </a:lnSpc>
              <a:buSzPct val="100000"/>
              <a:buChar char="•"/>
            </a:pPr>
            <a:r>
              <a:rPr lang="en-US" sz="1600" dirty="0">
                <a:solidFill>
                  <a:srgbClr val="D4CCBC"/>
                </a:solidFill>
                <a:latin typeface="Arial" pitchFamily="34" charset="0"/>
                <a:ea typeface="Arial" pitchFamily="34" charset="-122"/>
                <a:cs typeface="Arial" pitchFamily="34" charset="-120"/>
              </a:rPr>
              <a:t>Strong shift logs, every shift</a:t>
            </a:r>
            <a:endParaRPr lang="en-US" sz="1600" dirty="0"/>
          </a:p>
          <a:p>
            <a:pPr algn="l" marL="177292" indent="-177292">
              <a:lnSpc>
                <a:spcPts val="2480"/>
              </a:lnSpc>
              <a:buSzPct val="100000"/>
              <a:buChar char="•"/>
            </a:pPr>
            <a:r>
              <a:rPr lang="en-US" sz="1600" dirty="0">
                <a:solidFill>
                  <a:srgbClr val="D4CCBC"/>
                </a:solidFill>
                <a:latin typeface="Arial" pitchFamily="34" charset="0"/>
                <a:ea typeface="Arial" pitchFamily="34" charset="-122"/>
                <a:cs typeface="Arial" pitchFamily="34" charset="-120"/>
              </a:rPr>
              <a:t>No conduct flags or corrective actions</a:t>
            </a:r>
            <a:endParaRPr lang="en-US" sz="1600" dirty="0"/>
          </a:p>
          <a:p>
            <a:pPr algn="l" marL="177292" indent="-177292">
              <a:lnSpc>
                <a:spcPts val="2480"/>
              </a:lnSpc>
              <a:buSzPct val="100000"/>
              <a:buChar char="•"/>
            </a:pPr>
            <a:r>
              <a:rPr lang="en-US" sz="1600" dirty="0">
                <a:solidFill>
                  <a:srgbClr val="D4CCBC"/>
                </a:solidFill>
                <a:latin typeface="Arial" pitchFamily="34" charset="0"/>
                <a:ea typeface="Arial" pitchFamily="34" charset="-122"/>
                <a:cs typeface="Arial" pitchFamily="34" charset="-120"/>
              </a:rPr>
              <a:t>Supervisor endorsement</a:t>
            </a:r>
            <a:endParaRPr lang="en-US" sz="1600" dirty="0"/>
          </a:p>
          <a:p>
            <a:pPr algn="l" marL="177292" indent="-177292">
              <a:lnSpc>
                <a:spcPts val="2480"/>
              </a:lnSpc>
              <a:buSzPct val="100000"/>
              <a:buChar char="•"/>
            </a:pPr>
            <a:r>
              <a:rPr lang="en-US" sz="1600" dirty="0">
                <a:solidFill>
                  <a:srgbClr val="D4CCBC"/>
                </a:solidFill>
                <a:latin typeface="Arial" pitchFamily="34" charset="0"/>
                <a:ea typeface="Arial" pitchFamily="34" charset="-122"/>
                <a:cs typeface="Arial" pitchFamily="34" charset="-120"/>
              </a:rPr>
              <a:t>Ownership without being prompted</a:t>
            </a:r>
            <a:endParaRPr lang="en-US" sz="1600" dirty="0"/>
          </a:p>
        </p:txBody>
      </p:sp>
      <p:sp>
        <p:nvSpPr>
          <p:cNvPr id="5" name="Text 3"/>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D"/>
                </a:solidFill>
                <a:latin typeface="Arial" pitchFamily="34" charset="0"/>
                <a:ea typeface="Arial" pitchFamily="34" charset="-122"/>
                <a:cs typeface="Arial" pitchFamily="34" charset="-120"/>
              </a:rPr>
              <a:t>Apex NHE Speed Day · Sign-off · Every shift is part of the record</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5F1E"/>
                </a:solidFill>
                <a:latin typeface="Arial" pitchFamily="34" charset="0"/>
                <a:ea typeface="Arial" pitchFamily="34" charset="-122"/>
                <a:cs typeface="Arial" pitchFamily="34" charset="-120"/>
              </a:rPr>
              <a:t>COMMITMENT CARD · 8 MINUTES, IN SILENCE</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729"/>
                </a:solidFill>
                <a:latin typeface="Georgia" pitchFamily="18" charset="0"/>
                <a:ea typeface="Georgia" pitchFamily="18" charset="-122"/>
                <a:cs typeface="Georgia" pitchFamily="18" charset="-120"/>
              </a:rPr>
              <a:t>Write it. Sign it. Bring it to Day 30.</a:t>
            </a:r>
            <a:endParaRPr lang="en-US" sz="3600" dirty="0"/>
          </a:p>
        </p:txBody>
      </p:sp>
      <p:sp>
        <p:nvSpPr>
          <p:cNvPr id="4" name="Shape 2"/>
          <p:cNvSpPr/>
          <p:nvPr/>
        </p:nvSpPr>
        <p:spPr>
          <a:xfrm>
            <a:off x="812800" y="1938660"/>
            <a:ext cx="10566400" cy="0"/>
          </a:xfrm>
          <a:prstGeom prst="line">
            <a:avLst/>
          </a:prstGeom>
          <a:noFill/>
          <a:ln w="6350">
            <a:solidFill>
              <a:srgbClr val="D9CFBC"/>
            </a:solidFill>
            <a:prstDash val="solid"/>
          </a:ln>
        </p:spPr>
      </p:sp>
      <p:sp>
        <p:nvSpPr>
          <p:cNvPr id="5" name="Text 3"/>
          <p:cNvSpPr/>
          <p:nvPr/>
        </p:nvSpPr>
        <p:spPr>
          <a:xfrm>
            <a:off x="812800" y="2118365"/>
            <a:ext cx="10883392" cy="388620"/>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0B1729"/>
                </a:solidFill>
                <a:latin typeface="Georgia" pitchFamily="18" charset="0"/>
                <a:ea typeface="Georgia" pitchFamily="18" charset="-122"/>
                <a:cs typeface="Georgia" pitchFamily="18" charset="-120"/>
              </a:rPr>
              <a:t>The Apex Standard I carry into every shift, starting today, is…</a:t>
            </a:r>
            <a:endParaRPr lang="en-US" sz="2200" dirty="0"/>
          </a:p>
        </p:txBody>
      </p:sp>
      <p:sp>
        <p:nvSpPr>
          <p:cNvPr id="6" name="Shape 4"/>
          <p:cNvSpPr/>
          <p:nvPr/>
        </p:nvSpPr>
        <p:spPr>
          <a:xfrm>
            <a:off x="812800" y="2662560"/>
            <a:ext cx="10566400" cy="0"/>
          </a:xfrm>
          <a:prstGeom prst="line">
            <a:avLst/>
          </a:prstGeom>
          <a:noFill/>
          <a:ln w="6350">
            <a:solidFill>
              <a:srgbClr val="D9CFBC"/>
            </a:solidFill>
            <a:prstDash val="solid"/>
          </a:ln>
        </p:spPr>
      </p:sp>
      <p:sp>
        <p:nvSpPr>
          <p:cNvPr id="7" name="Text 5"/>
          <p:cNvSpPr/>
          <p:nvPr/>
        </p:nvSpPr>
        <p:spPr>
          <a:xfrm>
            <a:off x="812800" y="2842265"/>
            <a:ext cx="10883392" cy="388620"/>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0B1729"/>
                </a:solidFill>
                <a:latin typeface="Georgia" pitchFamily="18" charset="0"/>
                <a:ea typeface="Georgia" pitchFamily="18" charset="-122"/>
                <a:cs typeface="Georgia" pitchFamily="18" charset="-120"/>
              </a:rPr>
              <a:t>The one thing I hold myself accountable for in the first 30 days is…</a:t>
            </a:r>
            <a:endParaRPr lang="en-US" sz="2200" dirty="0"/>
          </a:p>
        </p:txBody>
      </p:sp>
      <p:sp>
        <p:nvSpPr>
          <p:cNvPr id="8" name="Shape 6"/>
          <p:cNvSpPr/>
          <p:nvPr/>
        </p:nvSpPr>
        <p:spPr>
          <a:xfrm>
            <a:off x="812800" y="3386460"/>
            <a:ext cx="10566400" cy="0"/>
          </a:xfrm>
          <a:prstGeom prst="line">
            <a:avLst/>
          </a:prstGeom>
          <a:noFill/>
          <a:ln w="6350">
            <a:solidFill>
              <a:srgbClr val="D9CFBC"/>
            </a:solidFill>
            <a:prstDash val="solid"/>
          </a:ln>
        </p:spPr>
      </p:sp>
      <p:sp>
        <p:nvSpPr>
          <p:cNvPr id="9" name="Shape 7"/>
          <p:cNvSpPr/>
          <p:nvPr/>
        </p:nvSpPr>
        <p:spPr>
          <a:xfrm>
            <a:off x="812800" y="4109090"/>
            <a:ext cx="10566400" cy="0"/>
          </a:xfrm>
          <a:prstGeom prst="line">
            <a:avLst/>
          </a:prstGeom>
          <a:noFill/>
          <a:ln w="6350">
            <a:solidFill>
              <a:srgbClr val="D9CFBC"/>
            </a:solidFill>
            <a:prstDash val="solid"/>
          </a:ln>
        </p:spPr>
      </p:sp>
      <p:sp>
        <p:nvSpPr>
          <p:cNvPr id="10" name="Text 8"/>
          <p:cNvSpPr/>
          <p:nvPr/>
        </p:nvSpPr>
        <p:spPr>
          <a:xfrm>
            <a:off x="812800" y="3566165"/>
            <a:ext cx="10883392" cy="388620"/>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0B1729"/>
                </a:solidFill>
                <a:latin typeface="Georgia" pitchFamily="18" charset="0"/>
                <a:ea typeface="Georgia" pitchFamily="18" charset="-122"/>
                <a:cs typeface="Georgia" pitchFamily="18" charset="-120"/>
              </a:rPr>
              <a:t>At my 30-day review, I'll know I succeeded if…</a:t>
            </a:r>
            <a:endParaRPr lang="en-US" sz="2200" dirty="0"/>
          </a:p>
        </p:txBody>
      </p:sp>
      <p:sp>
        <p:nvSpPr>
          <p:cNvPr id="11" name="Text 9"/>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Arial" pitchFamily="34" charset="0"/>
                <a:ea typeface="Arial" pitchFamily="34" charset="-122"/>
                <a:cs typeface="Arial" pitchFamily="34" charset="-120"/>
              </a:rPr>
              <a:t>Apex NHE Speed Day · Sign-off · Packet: Sign-off page, commitment card</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C9A84C"/>
                </a:solidFill>
                <a:latin typeface="Arial" pitchFamily="34" charset="0"/>
                <a:ea typeface="Arial" pitchFamily="34" charset="-122"/>
                <a:cs typeface="Arial" pitchFamily="34" charset="-120"/>
              </a:rPr>
              <a:t>APEX CONCIERGE SERVICES · NEW HIRE EXPERIENCE</a:t>
            </a:r>
            <a:endParaRPr lang="en-US" sz="1200" dirty="0"/>
          </a:p>
        </p:txBody>
      </p:sp>
      <p:sp>
        <p:nvSpPr>
          <p:cNvPr id="3" name="Text 1"/>
          <p:cNvSpPr/>
          <p:nvPr/>
        </p:nvSpPr>
        <p:spPr>
          <a:xfrm>
            <a:off x="812800" y="198755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EB6A6"/>
                </a:solidFill>
                <a:latin typeface="Arial" pitchFamily="34" charset="0"/>
                <a:ea typeface="Arial" pitchFamily="34" charset="-122"/>
                <a:cs typeface="Arial" pitchFamily="34" charset="-120"/>
              </a:rPr>
              <a:t>You were hired because we believe you can represent this standard.</a:t>
            </a:r>
            <a:endParaRPr lang="en-US" sz="2200" dirty="0"/>
          </a:p>
        </p:txBody>
      </p:sp>
      <p:sp>
        <p:nvSpPr>
          <p:cNvPr id="4" name="Text 2"/>
          <p:cNvSpPr/>
          <p:nvPr>
            <p:ph type="title"/>
          </p:nvPr>
        </p:nvSpPr>
        <p:spPr>
          <a:xfrm>
            <a:off x="812800" y="2968005"/>
            <a:ext cx="10883392" cy="189230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3ECDD"/>
                </a:solidFill>
                <a:latin typeface="Georgia" pitchFamily="18" charset="0"/>
                <a:ea typeface="Georgia" pitchFamily="18" charset="-122"/>
                <a:cs typeface="Georgia" pitchFamily="18" charset="-120"/>
              </a:rPr>
              <a:t>Today is the baseline.</a:t>
            </a:r>
            <a:endParaRPr lang="en-US" sz="7000" dirty="0"/>
          </a:p>
          <a:p>
            <a:pPr algn="l" indent="0" marL="0">
              <a:lnSpc>
                <a:spcPts val="7350"/>
              </a:lnSpc>
              <a:buNone/>
            </a:pPr>
            <a:r>
              <a:rPr lang="en-US" sz="7000" b="1" i="1" dirty="0">
                <a:solidFill>
                  <a:srgbClr val="C9A84C"/>
                </a:solidFill>
                <a:latin typeface="Georgia" pitchFamily="18" charset="0"/>
                <a:ea typeface="Georgia" pitchFamily="18" charset="-122"/>
                <a:cs typeface="Georgia" pitchFamily="18" charset="-120"/>
              </a:rPr>
              <a:t>Now go exceed it.</a:t>
            </a:r>
            <a:endParaRPr lang="en-US" sz="7000" dirty="0"/>
          </a:p>
        </p:txBody>
      </p:sp>
      <p:pic>
        <p:nvPicPr>
          <p:cNvPr id="5" name="Image 0" descr="line">    </p:cNvPr>
          <p:cNvPicPr>
            <a:picLocks noChangeAspect="1"/>
          </p:cNvPicPr>
          <p:nvPr/>
        </p:nvPicPr>
        <p:blipFill>
          <a:blip r:embed="rId1"/>
          <a:srcRect l="0" r="0" t="0" b="0"/>
          <a:stretch/>
        </p:blipFill>
        <p:spPr>
          <a:xfrm>
            <a:off x="812800" y="5914405"/>
            <a:ext cx="1016000" cy="12700"/>
          </a:xfrm>
          <a:prstGeom prst="rect">
            <a:avLst/>
          </a:prstGeom>
        </p:spPr>
      </p:pic>
      <p:sp>
        <p:nvSpPr>
          <p:cNvPr id="6" name="Text 3"/>
          <p:cNvSpPr/>
          <p:nvPr/>
        </p:nvSpPr>
        <p:spPr>
          <a:xfrm>
            <a:off x="2133600" y="5796285"/>
            <a:ext cx="167211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EB6A6"/>
                </a:solidFill>
                <a:latin typeface="Arial" pitchFamily="34" charset="0"/>
                <a:ea typeface="Arial" pitchFamily="34" charset="-122"/>
                <a:cs typeface="Arial" pitchFamily="34" charset="-120"/>
              </a:rPr>
              <a:t>Luxury lives here.</a:t>
            </a:r>
            <a:endParaRPr lang="en-US" sz="1400" dirty="0"/>
          </a:p>
        </p:txBody>
      </p:sp>
    </p:spTree>
  </p:cSld>
  <p:clrMapOvr>
    <a:masterClrMapping/>
  </p:clrMapOvr>
</p:sld>
</file>

<file path=ppt/theme/theme1.xml><?xml version="1.0" encoding="utf-8"?>
<a:theme xmlns:a="http://schemas.openxmlformats.org/drawingml/2006/main" name="NHE Speed Day Trainer Deck">
  <a:themeElements>
    <a:clrScheme name="NHE Speed Day Trainer Deck">
      <a:dk1>
        <a:srgbClr val="0B1729"/>
      </a:dk1>
      <a:lt1>
        <a:srgbClr val="F6F2E9"/>
      </a:lt1>
      <a:dk2>
        <a:srgbClr val="464E59"/>
      </a:dk2>
      <a:lt2>
        <a:srgbClr val="DFDCD6"/>
      </a:lt2>
      <a:accent1>
        <a:srgbClr val="7E5F1E"/>
      </a:accent1>
      <a:accent2>
        <a:srgbClr val="C9A84C"/>
      </a:accent2>
      <a:accent3>
        <a:srgbClr val="132342"/>
      </a:accent3>
      <a:accent4>
        <a:srgbClr val="1E5D58"/>
      </a:accent4>
      <a:accent5>
        <a:srgbClr val="3E4454"/>
      </a:accent5>
      <a:accent6>
        <a:srgbClr val="9AA0AD"/>
      </a:accent6>
      <a:hlink>
        <a:srgbClr val="0563C1"/>
      </a:hlink>
      <a:folHlink>
        <a:srgbClr val="954F72"/>
      </a:folHlink>
    </a:clrScheme>
    <a:fontScheme name="NHE Speed Day Trainer Deck">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NHE Speed Day Trainer Deck</dc:title>
  <dc:subject/>
  <dc:creator/>
  <cp:lastModifiedBy/>
  <cp:revision>1</cp:revision>
  <dcterms:created xsi:type="dcterms:W3CDTF">2026-10-07T09:21:50Z</dcterms:created>
  <dcterms:modified xsi:type="dcterms:W3CDTF">2026-10-07T09:21:50Z</dcterms:modified>
</cp:coreProperties>
</file>